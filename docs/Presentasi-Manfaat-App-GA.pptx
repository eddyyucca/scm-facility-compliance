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BC240-0F72-A82A-4FD1-DB98ACB6AD31}"/>
              </a:ext>
            </a:extLst>
          </p:cNvPr>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ID"/>
          </a:p>
        </p:txBody>
      </p:sp>
      <p:sp>
        <p:nvSpPr>
          <p:cNvPr id="3" name="Subtitle 2">
            <a:extLst>
              <a:ext uri="{FF2B5EF4-FFF2-40B4-BE49-F238E27FC236}">
                <a16:creationId xmlns:a16="http://schemas.microsoft.com/office/drawing/2014/main" id="{FA19AD9D-D82F-E417-576C-D511587211AD}"/>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A0F7685B-2259-D01C-D914-3C8CB1674DB6}"/>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B6B47883-57DB-62B0-14E7-BA7D8B3E52A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332EBC5-4D32-5FF8-85A8-A0C5EADABB1E}"/>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3277295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D2EB7-FB72-BB1E-42B8-C9C49A3A722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9181E91-8070-906D-DB24-B1A63956A2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3E022BB-4867-1CB3-8A2B-D498374D57F8}"/>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59F0FF60-1A5A-EA9D-91F8-F6D5D58F792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77EA883-1009-3994-4C19-B1317BF2301B}"/>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2668316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8E76-920A-7480-9696-7F9592BDD5C4}"/>
              </a:ext>
            </a:extLst>
          </p:cNvPr>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B4951CAA-75AF-66BF-1FA4-42756A48CE3B}"/>
              </a:ext>
            </a:extLst>
          </p:cNvPr>
          <p:cNvSpPr>
            <a:spLocks noGrp="1"/>
          </p:cNvSpPr>
          <p:nvPr>
            <p:ph type="body" idx="1"/>
          </p:nvPr>
        </p:nvSpPr>
        <p:spPr>
          <a:xfrm>
            <a:off x="623888"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FCB49C-C38B-C6EF-A54C-79D2761B1594}"/>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A119D5DB-B94E-F1E4-7AA9-9D222C831DA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549E5EC-3361-9DF8-855B-4E4F24A65676}"/>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544314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056E-4E97-D673-5E64-735A05BBD53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3193EF00-4D1D-DFE6-0374-B8B6581AFD9E}"/>
              </a:ext>
            </a:extLst>
          </p:cNvPr>
          <p:cNvSpPr>
            <a:spLocks noGrp="1"/>
          </p:cNvSpPr>
          <p:nvPr>
            <p:ph sz="half" idx="1"/>
          </p:nvPr>
        </p:nvSpPr>
        <p:spPr>
          <a:xfrm>
            <a:off x="6286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6E80D9E4-654F-C408-9459-63A351E862F3}"/>
              </a:ext>
            </a:extLst>
          </p:cNvPr>
          <p:cNvSpPr>
            <a:spLocks noGrp="1"/>
          </p:cNvSpPr>
          <p:nvPr>
            <p:ph sz="half" idx="2"/>
          </p:nvPr>
        </p:nvSpPr>
        <p:spPr>
          <a:xfrm>
            <a:off x="4629150" y="1521354"/>
            <a:ext cx="3886200" cy="3626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05CFBCD5-30D7-8023-2ECC-2CC927203156}"/>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6" name="Footer Placeholder 5">
            <a:extLst>
              <a:ext uri="{FF2B5EF4-FFF2-40B4-BE49-F238E27FC236}">
                <a16:creationId xmlns:a16="http://schemas.microsoft.com/office/drawing/2014/main" id="{18E2908A-492A-065F-343C-E9D4A10A2B5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236CD3D-7560-20C1-8A19-4821D9300C40}"/>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159625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35EE-B1EB-99DF-F688-6E233998F1DC}"/>
              </a:ext>
            </a:extLst>
          </p:cNvPr>
          <p:cNvSpPr>
            <a:spLocks noGrp="1"/>
          </p:cNvSpPr>
          <p:nvPr>
            <p:ph type="title"/>
          </p:nvPr>
        </p:nvSpPr>
        <p:spPr>
          <a:xfrm>
            <a:off x="629841" y="304271"/>
            <a:ext cx="7886700" cy="1104636"/>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C787EE6-BA6B-2CFD-6373-A9349F82ADB6}"/>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AE65455-3AA6-6D58-F152-7D29D6B73232}"/>
              </a:ext>
            </a:extLst>
          </p:cNvPr>
          <p:cNvSpPr>
            <a:spLocks noGrp="1"/>
          </p:cNvSpPr>
          <p:nvPr>
            <p:ph sz="half" idx="2"/>
          </p:nvPr>
        </p:nvSpPr>
        <p:spPr>
          <a:xfrm>
            <a:off x="629842" y="2087563"/>
            <a:ext cx="3868340"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3A7F2017-2CC8-16C8-8BC3-50D887D6351E}"/>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A1C9062-12AB-D229-E2E5-E8827F4A87C1}"/>
              </a:ext>
            </a:extLst>
          </p:cNvPr>
          <p:cNvSpPr>
            <a:spLocks noGrp="1"/>
          </p:cNvSpPr>
          <p:nvPr>
            <p:ph sz="quarter" idx="4"/>
          </p:nvPr>
        </p:nvSpPr>
        <p:spPr>
          <a:xfrm>
            <a:off x="4629150" y="2087563"/>
            <a:ext cx="3887391" cy="30704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3961F747-2DD5-9B18-6A2D-016AE26EF297}"/>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8" name="Footer Placeholder 7">
            <a:extLst>
              <a:ext uri="{FF2B5EF4-FFF2-40B4-BE49-F238E27FC236}">
                <a16:creationId xmlns:a16="http://schemas.microsoft.com/office/drawing/2014/main" id="{E1EC8498-01A1-FFDC-FD2C-A483EA68C261}"/>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3E3C2803-95D8-F1E6-2911-2B3CC3316206}"/>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185921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B88E-E2EE-E9D0-38C9-02CD942353B8}"/>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FB14541E-14E6-5F7F-B666-11272ED90C91}"/>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4" name="Footer Placeholder 3">
            <a:extLst>
              <a:ext uri="{FF2B5EF4-FFF2-40B4-BE49-F238E27FC236}">
                <a16:creationId xmlns:a16="http://schemas.microsoft.com/office/drawing/2014/main" id="{42AB8B0C-04D1-B31A-C6B2-CA8C4F3283BC}"/>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21C2BDA0-706F-C040-7C34-8113ADFD8892}"/>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55080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E7FF1-723C-5C95-6ED6-89733D409DCC}"/>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3" name="Footer Placeholder 2">
            <a:extLst>
              <a:ext uri="{FF2B5EF4-FFF2-40B4-BE49-F238E27FC236}">
                <a16:creationId xmlns:a16="http://schemas.microsoft.com/office/drawing/2014/main" id="{49D0AC46-8AC4-5CAC-0FD3-D7D8F3AD18D9}"/>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7AC121B2-9190-E2C0-607E-0AD163E0432A}"/>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26933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51FDA-1C12-2C4F-7C5B-30D94AB0105C}"/>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79FDB922-1A18-8F23-808B-B2AFE07AC883}"/>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B48EDBE0-8DD7-9543-5D1D-5C0AA9B450F0}"/>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30406D3-C304-5DD6-202C-9414B46847C9}"/>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6" name="Footer Placeholder 5">
            <a:extLst>
              <a:ext uri="{FF2B5EF4-FFF2-40B4-BE49-F238E27FC236}">
                <a16:creationId xmlns:a16="http://schemas.microsoft.com/office/drawing/2014/main" id="{780B6307-C3EF-4ECA-ACA2-631F737D3F5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1C3FC6F-3217-63B7-9987-AF8A5B19534F}"/>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404128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DAAA-2556-49AE-5FB0-6F4D79757FC4}"/>
              </a:ext>
            </a:extLst>
          </p:cNvPr>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4FA2A90-0F4A-C17C-5597-C65AE5F8DA72}"/>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D"/>
          </a:p>
        </p:txBody>
      </p:sp>
      <p:sp>
        <p:nvSpPr>
          <p:cNvPr id="4" name="Text Placeholder 3">
            <a:extLst>
              <a:ext uri="{FF2B5EF4-FFF2-40B4-BE49-F238E27FC236}">
                <a16:creationId xmlns:a16="http://schemas.microsoft.com/office/drawing/2014/main" id="{FF10A2F6-6518-354A-EB3C-437467AB7C64}"/>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63E2E74-6729-0461-C44E-C607C13FF707}"/>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6" name="Footer Placeholder 5">
            <a:extLst>
              <a:ext uri="{FF2B5EF4-FFF2-40B4-BE49-F238E27FC236}">
                <a16:creationId xmlns:a16="http://schemas.microsoft.com/office/drawing/2014/main" id="{C8CCE25B-D247-B6AF-D005-6FE3C40D363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3CB7A33-F70D-F712-91CA-CD84F7447430}"/>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3722321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8F596-0FD8-5DC1-92A2-27A32B6E0137}"/>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A1F06E0E-6968-55AA-6AA8-527A98917F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353D70F-DAC5-DD33-6A77-A4951FFD1C4B}"/>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2A600CC8-9F85-C13E-0CF2-E6BD44800BBA}"/>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9E985EB-2640-13BB-C052-55B42A0DE80D}"/>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1861666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A4758C-E60C-77C9-2C59-8E75ABD87FB7}"/>
              </a:ext>
            </a:extLst>
          </p:cNvPr>
          <p:cNvSpPr>
            <a:spLocks noGrp="1"/>
          </p:cNvSpPr>
          <p:nvPr>
            <p:ph type="title" orient="vert"/>
          </p:nvPr>
        </p:nvSpPr>
        <p:spPr>
          <a:xfrm>
            <a:off x="6543675" y="304271"/>
            <a:ext cx="1971675" cy="484319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528FDB77-FE85-9910-7EC5-B1F17AA761C1}"/>
              </a:ext>
            </a:extLst>
          </p:cNvPr>
          <p:cNvSpPr>
            <a:spLocks noGrp="1"/>
          </p:cNvSpPr>
          <p:nvPr>
            <p:ph type="body" orient="vert" idx="1"/>
          </p:nvPr>
        </p:nvSpPr>
        <p:spPr>
          <a:xfrm>
            <a:off x="628650" y="304271"/>
            <a:ext cx="5800725" cy="48431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16A14EE-F001-700C-5CD9-5F625640124F}"/>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04656753-2DDA-D87B-F060-A487F6BAEFF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7E8A36F-3960-834B-31F9-651F2ED74792}"/>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1704045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D8BE-BAFC-551A-E466-A04F36DC85B0}"/>
              </a:ext>
            </a:extLst>
          </p:cNvPr>
          <p:cNvSpPr>
            <a:spLocks noGrp="1"/>
          </p:cNvSpPr>
          <p:nvPr>
            <p:ph type="title"/>
          </p:nvPr>
        </p:nvSpPr>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0A8DA07D-CEAC-2A99-CE53-B8A9A6448000}"/>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2C48B68A-74C2-8B1B-DC61-81104D2E6385}"/>
              </a:ext>
            </a:extLst>
          </p:cNvPr>
          <p:cNvSpPr>
            <a:spLocks noGrp="1"/>
          </p:cNvSpPr>
          <p:nvPr>
            <p:ph type="dt" sz="half" idx="10"/>
          </p:nvPr>
        </p:nvSpPr>
        <p:spPr/>
        <p:txBody>
          <a:body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440970AB-1A0B-892F-7FED-A04C760A360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2A145EB8-36DA-AE8E-B534-F73D6AEDF195}"/>
              </a:ext>
            </a:extLst>
          </p:cNvPr>
          <p:cNvSpPr>
            <a:spLocks noGrp="1"/>
          </p:cNvSpPr>
          <p:nvPr>
            <p:ph type="sldNum" sz="quarter" idx="12"/>
          </p:nvPr>
        </p:nvSpPr>
        <p:spPr/>
        <p:txBody>
          <a:bodyPr/>
          <a:lstStyle/>
          <a:p>
            <a:fld id="{4BBF04D0-1ADF-4D7E-A2BF-C00762B67E3D}" type="slidenum">
              <a:rPr lang="en-ID" smtClean="0"/>
              <a:t>‹#›</a:t>
            </a:fld>
            <a:endParaRPr lang="en-ID"/>
          </a:p>
        </p:txBody>
      </p:sp>
    </p:spTree>
    <p:extLst>
      <p:ext uri="{BB962C8B-B14F-4D97-AF65-F5344CB8AC3E}">
        <p14:creationId xmlns:p14="http://schemas.microsoft.com/office/powerpoint/2010/main" val="272687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458833-AB7A-E07A-AF04-BD2C4E64EB05}"/>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C852F0F-973E-6815-F6B1-CD2E621F750C}"/>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6174CFB-0B24-AC45-C6B7-904BA0D0675A}"/>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D72E2028-C8D2-4251-B09D-1A833AF9DF6D}" type="datetimeFigureOut">
              <a:rPr lang="en-ID" smtClean="0"/>
              <a:t>16/04/2026</a:t>
            </a:fld>
            <a:endParaRPr lang="en-ID"/>
          </a:p>
        </p:txBody>
      </p:sp>
      <p:sp>
        <p:nvSpPr>
          <p:cNvPr id="5" name="Footer Placeholder 4">
            <a:extLst>
              <a:ext uri="{FF2B5EF4-FFF2-40B4-BE49-F238E27FC236}">
                <a16:creationId xmlns:a16="http://schemas.microsoft.com/office/drawing/2014/main" id="{7BE31588-8937-52D2-155F-413F44B099B2}"/>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333B6844-20B3-E2AB-37BF-69B50DB9179B}"/>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4BBF04D0-1ADF-4D7E-A2BF-C00762B67E3D}" type="slidenum">
              <a:rPr lang="en-ID" smtClean="0"/>
              <a:t>‹#›</a:t>
            </a:fld>
            <a:endParaRPr lang="en-ID"/>
          </a:p>
        </p:txBody>
      </p:sp>
    </p:spTree>
    <p:extLst>
      <p:ext uri="{BB962C8B-B14F-4D97-AF65-F5344CB8AC3E}">
        <p14:creationId xmlns:p14="http://schemas.microsoft.com/office/powerpoint/2010/main" val="2429724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3DF3D-46B6-6D72-9F37-E4E0EE15227A}"/>
              </a:ext>
            </a:extLst>
          </p:cNvPr>
          <p:cNvSpPr>
            <a:spLocks noGrp="1"/>
          </p:cNvSpPr>
          <p:nvPr>
            <p:ph type="ctrTitle"/>
          </p:nvPr>
        </p:nvSpPr>
        <p:spPr>
          <a:xfrm>
            <a:off x="571500" y="889000"/>
            <a:ext cx="9906000" cy="1270000"/>
          </a:xfrm>
        </p:spPr>
        <p:txBody>
          <a:bodyPr>
            <a:normAutofit/>
          </a:bodyPr>
          <a:lstStyle/>
          <a:p>
            <a:r>
              <a:rPr lang="fr-FR" sz="2800" b="1">
                <a:solidFill>
                  <a:srgbClr val="5D3617"/>
                </a:solidFill>
                <a:latin typeface="Aptos Display" panose="020B0004020202020204" pitchFamily="34" charset="0"/>
              </a:rPr>
              <a:t>SCM GA Complaint Management App</a:t>
            </a:r>
            <a:endParaRPr lang="en-ID" sz="2800" b="1">
              <a:solidFill>
                <a:srgbClr val="5D3617"/>
              </a:solidFill>
              <a:latin typeface="Aptos Display" panose="020B0004020202020204" pitchFamily="34" charset="0"/>
            </a:endParaRPr>
          </a:p>
        </p:txBody>
      </p:sp>
      <p:sp>
        <p:nvSpPr>
          <p:cNvPr id="3" name="Subtitle 2">
            <a:extLst>
              <a:ext uri="{FF2B5EF4-FFF2-40B4-BE49-F238E27FC236}">
                <a16:creationId xmlns:a16="http://schemas.microsoft.com/office/drawing/2014/main" id="{93176F12-33D5-A765-03AE-E7F0ADD46F89}"/>
              </a:ext>
            </a:extLst>
          </p:cNvPr>
          <p:cNvSpPr>
            <a:spLocks noGrp="1"/>
          </p:cNvSpPr>
          <p:nvPr>
            <p:ph type="subTitle" idx="1"/>
          </p:nvPr>
        </p:nvSpPr>
        <p:spPr>
          <a:xfrm>
            <a:off x="609600" y="2286000"/>
            <a:ext cx="9906000" cy="2286000"/>
          </a:xfrm>
        </p:spPr>
        <p:txBody>
          <a:bodyPr>
            <a:normAutofit/>
          </a:bodyPr>
          <a:lstStyle/>
          <a:p>
            <a:r>
              <a:rPr lang="sv-SE" sz="1700">
                <a:solidFill>
                  <a:srgbClr val="4A4A4A"/>
                </a:solidFill>
                <a:latin typeface="Aptos" panose="020B0004020202020204" pitchFamily="34" charset="0"/>
              </a:rPr>
              <a:t>Presentasi manfaat aplikasi untuk management: memperkuat pelaporan, monitoring service, dan peningkatan kualitas layanan General Affairs.</a:t>
            </a:r>
            <a:endParaRPr lang="en-ID" sz="1700">
              <a:solidFill>
                <a:srgbClr val="4A4A4A"/>
              </a:solidFill>
              <a:latin typeface="Aptos" panose="020B0004020202020204" pitchFamily="34" charset="0"/>
            </a:endParaRPr>
          </a:p>
        </p:txBody>
      </p:sp>
      <p:pic>
        <p:nvPicPr>
          <p:cNvPr id="5" name="Picture 4">
            <a:extLst>
              <a:ext uri="{FF2B5EF4-FFF2-40B4-BE49-F238E27FC236}">
                <a16:creationId xmlns:a16="http://schemas.microsoft.com/office/drawing/2014/main" id="{C84E8511-FA42-6377-2549-D80DA3ECEA3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191500" y="355600"/>
            <a:ext cx="1524000" cy="1524000"/>
          </a:xfrm>
          <a:prstGeom prst="rect">
            <a:avLst/>
          </a:prstGeom>
        </p:spPr>
      </p:pic>
      <p:sp>
        <p:nvSpPr>
          <p:cNvPr id="6" name="Rectangle 5">
            <a:extLst>
              <a:ext uri="{FF2B5EF4-FFF2-40B4-BE49-F238E27FC236}">
                <a16:creationId xmlns:a16="http://schemas.microsoft.com/office/drawing/2014/main" id="{E5F0CE1F-A005-6128-B527-41F1A2867189}"/>
              </a:ext>
            </a:extLst>
          </p:cNvPr>
          <p:cNvSpPr/>
          <p:nvPr/>
        </p:nvSpPr>
        <p:spPr>
          <a:xfrm>
            <a:off x="571500" y="4191000"/>
            <a:ext cx="3048000" cy="101600"/>
          </a:xfrm>
          <a:prstGeom prst="rect">
            <a:avLst/>
          </a:prstGeom>
          <a:solidFill>
            <a:srgbClr val="8BA51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661592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09B43-A38E-C179-2AC2-2E5B4C44205E}"/>
              </a:ext>
            </a:extLst>
          </p:cNvPr>
          <p:cNvSpPr>
            <a:spLocks noGrp="1"/>
          </p:cNvSpPr>
          <p:nvPr>
            <p:ph type="title"/>
          </p:nvPr>
        </p:nvSpPr>
        <p:spPr/>
        <p:txBody>
          <a:bodyPr>
            <a:normAutofit/>
          </a:bodyPr>
          <a:lstStyle/>
          <a:p>
            <a:r>
              <a:rPr lang="fi-FI" sz="2600" b="1">
                <a:solidFill>
                  <a:srgbClr val="5D3617"/>
                </a:solidFill>
                <a:latin typeface="Aptos Display" panose="020B0004020202020204" pitchFamily="34" charset="0"/>
              </a:rPr>
              <a:t>Latar Belakang Permasalahan Saat Ini</a:t>
            </a:r>
            <a:endParaRPr lang="en-ID" sz="2600" b="1">
              <a:solidFill>
                <a:srgbClr val="5D3617"/>
              </a:solidFill>
              <a:latin typeface="Aptos Display" panose="020B0004020202020204" pitchFamily="34" charset="0"/>
            </a:endParaRPr>
          </a:p>
        </p:txBody>
      </p:sp>
      <p:sp>
        <p:nvSpPr>
          <p:cNvPr id="3" name="Text Placeholder 2">
            <a:extLst>
              <a:ext uri="{FF2B5EF4-FFF2-40B4-BE49-F238E27FC236}">
                <a16:creationId xmlns:a16="http://schemas.microsoft.com/office/drawing/2014/main" id="{85BB7960-16DB-E67B-59D4-88ECDE11F458}"/>
              </a:ext>
            </a:extLst>
          </p:cNvPr>
          <p:cNvSpPr>
            <a:spLocks noGrp="1"/>
          </p:cNvSpPr>
          <p:nvPr>
            <p:ph type="body" idx="1"/>
          </p:nvPr>
        </p:nvSpPr>
        <p:spPr>
          <a:xfrm>
            <a:off x="698500" y="1396999"/>
            <a:ext cx="10414000" cy="4572000"/>
          </a:xfrm>
        </p:spPr>
        <p:txBody>
          <a:bodyPr>
            <a:normAutofit/>
          </a:bodyPr>
          <a:lstStyle/>
          <a:p>
            <a:pPr>
              <a:spcAft>
                <a:spcPts val="1000"/>
              </a:spcAft>
            </a:pPr>
            <a:r>
              <a:rPr lang="en-ID" sz="2000">
                <a:solidFill>
                  <a:srgbClr val="333333"/>
                </a:solidFill>
                <a:latin typeface="Aptos" panose="020B0004020202020204" pitchFamily="34" charset="0"/>
              </a:rPr>
              <a:t>Banyak laporan masuk ke Aden, tetapi respon dan penyelesaiannya belum terpantau secara konsisten.</a:t>
            </a:r>
            <a:r>
              <a:rPr lang="sv-SE" sz="2000">
                <a:solidFill>
                  <a:srgbClr val="333333"/>
                </a:solidFill>
                <a:latin typeface="Aptos" panose="020B0004020202020204" pitchFamily="34" charset="0"/>
              </a:rPr>
              <a:t>Sebagian laporan berpotensi lost karena tidak tercatat dalam satu sistem yang sama.Management belum memiliki monitoring real-time untuk melihat beban kerja, status, dan bottleneck layanan.Tanpa data yang rapi, sulit menentukan prioritas perbaikan dan mengukur kualitas service GA.</a:t>
            </a:r>
            <a:endParaRPr lang="en-ID" sz="2000">
              <a:solidFill>
                <a:srgbClr val="333333"/>
              </a:solidFill>
              <a:latin typeface="Aptos" panose="020B0004020202020204" pitchFamily="34" charset="0"/>
            </a:endParaRPr>
          </a:p>
        </p:txBody>
      </p:sp>
    </p:spTree>
    <p:extLst>
      <p:ext uri="{BB962C8B-B14F-4D97-AF65-F5344CB8AC3E}">
        <p14:creationId xmlns:p14="http://schemas.microsoft.com/office/powerpoint/2010/main" val="866510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E4C31-13CD-152B-CED4-AC77203AB115}"/>
              </a:ext>
            </a:extLst>
          </p:cNvPr>
          <p:cNvSpPr>
            <a:spLocks noGrp="1"/>
          </p:cNvSpPr>
          <p:nvPr>
            <p:ph type="title"/>
          </p:nvPr>
        </p:nvSpPr>
        <p:spPr/>
        <p:txBody>
          <a:bodyPr>
            <a:normAutofit/>
          </a:bodyPr>
          <a:lstStyle/>
          <a:p>
            <a:r>
              <a:rPr lang="fi-FI" sz="2600" b="1">
                <a:solidFill>
                  <a:srgbClr val="5D3617"/>
                </a:solidFill>
                <a:latin typeface="Aptos Display" panose="020B0004020202020204" pitchFamily="34" charset="0"/>
              </a:rPr>
              <a:t>Apa Manfaat Utama Aplikasi Ini</a:t>
            </a:r>
            <a:endParaRPr lang="en-ID" sz="2600" b="1">
              <a:solidFill>
                <a:srgbClr val="5D3617"/>
              </a:solidFill>
              <a:latin typeface="Aptos Display" panose="020B0004020202020204" pitchFamily="34" charset="0"/>
            </a:endParaRPr>
          </a:p>
        </p:txBody>
      </p:sp>
      <p:sp>
        <p:nvSpPr>
          <p:cNvPr id="3" name="Text Placeholder 2">
            <a:extLst>
              <a:ext uri="{FF2B5EF4-FFF2-40B4-BE49-F238E27FC236}">
                <a16:creationId xmlns:a16="http://schemas.microsoft.com/office/drawing/2014/main" id="{C8F8CF36-32C4-B285-3B98-EBFAE934A4B2}"/>
              </a:ext>
            </a:extLst>
          </p:cNvPr>
          <p:cNvSpPr>
            <a:spLocks noGrp="1"/>
          </p:cNvSpPr>
          <p:nvPr>
            <p:ph type="body" idx="1"/>
          </p:nvPr>
        </p:nvSpPr>
        <p:spPr>
          <a:xfrm>
            <a:off x="698500" y="1396999"/>
            <a:ext cx="10414000" cy="4572000"/>
          </a:xfrm>
        </p:spPr>
        <p:txBody>
          <a:bodyPr>
            <a:normAutofit/>
          </a:bodyPr>
          <a:lstStyle/>
          <a:p>
            <a:pPr>
              <a:spcAft>
                <a:spcPts val="1000"/>
              </a:spcAft>
            </a:pPr>
            <a:r>
              <a:rPr lang="en-ID" sz="2000">
                <a:solidFill>
                  <a:srgbClr val="333333"/>
                </a:solidFill>
                <a:latin typeface="Aptos" panose="020B0004020202020204" pitchFamily="34" charset="0"/>
              </a:rPr>
              <a:t>Semua laporan masuk ke satu pintu dan otomatis menjadi tiket yang dapat dilacak.Setiap tiket memiliki status, tipe layanan, waktu laporan, dan histori tindak lanjut.Dashboard membuat owner dan sub user bisa memonitor progres secara penuh.Data top pelapor membantu membangun budaya partisipatif: semua orang bisa menjadi agen perbaikan service.Ke depan, reward untuk pelapor dan tim service bisa diberikan berdasarkan data nyata dan feedback.</a:t>
            </a:r>
          </a:p>
        </p:txBody>
      </p:sp>
    </p:spTree>
    <p:extLst>
      <p:ext uri="{BB962C8B-B14F-4D97-AF65-F5344CB8AC3E}">
        <p14:creationId xmlns:p14="http://schemas.microsoft.com/office/powerpoint/2010/main" val="354963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CFB14D-9FBD-3E86-BC74-00BA6C98E2D6}"/>
              </a:ext>
            </a:extLst>
          </p:cNvPr>
          <p:cNvSpPr txBox="1"/>
          <p:nvPr/>
        </p:nvSpPr>
        <p:spPr>
          <a:xfrm>
            <a:off x="571500" y="317500"/>
            <a:ext cx="10541000" cy="461665"/>
          </a:xfrm>
          <a:prstGeom prst="rect">
            <a:avLst/>
          </a:prstGeom>
          <a:noFill/>
        </p:spPr>
        <p:txBody>
          <a:bodyPr vert="horz" rtlCol="0">
            <a:spAutoFit/>
          </a:bodyPr>
          <a:lstStyle/>
          <a:p>
            <a:r>
              <a:rPr lang="en-ID" sz="2400" b="1">
                <a:solidFill>
                  <a:srgbClr val="5D3617"/>
                </a:solidFill>
                <a:latin typeface="Aptos Display" panose="020B0004020202020204" pitchFamily="34" charset="0"/>
              </a:rPr>
              <a:t>Tahap 1: Proses Aplikasi untuk User Melapor</a:t>
            </a:r>
          </a:p>
        </p:txBody>
      </p:sp>
      <p:sp>
        <p:nvSpPr>
          <p:cNvPr id="3" name="Rectangle 2">
            <a:extLst>
              <a:ext uri="{FF2B5EF4-FFF2-40B4-BE49-F238E27FC236}">
                <a16:creationId xmlns:a16="http://schemas.microsoft.com/office/drawing/2014/main" id="{AD41317D-483D-9F38-EA49-B8EB8625D32A}"/>
              </a:ext>
            </a:extLst>
          </p:cNvPr>
          <p:cNvSpPr/>
          <p:nvPr/>
        </p:nvSpPr>
        <p:spPr>
          <a:xfrm>
            <a:off x="571500" y="1143000"/>
            <a:ext cx="4953000" cy="4826000"/>
          </a:xfrm>
          <a:prstGeom prst="rect">
            <a:avLst/>
          </a:prstGeom>
          <a:solidFill>
            <a:srgbClr val="FFFFFF"/>
          </a:solidFill>
          <a:ln>
            <a:solidFill>
              <a:srgbClr val="F2E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3">
            <a:extLst>
              <a:ext uri="{FF2B5EF4-FFF2-40B4-BE49-F238E27FC236}">
                <a16:creationId xmlns:a16="http://schemas.microsoft.com/office/drawing/2014/main" id="{EBE161A0-66DA-1F3C-D6F0-AD9FC4BDE404}"/>
              </a:ext>
            </a:extLst>
          </p:cNvPr>
          <p:cNvSpPr/>
          <p:nvPr/>
        </p:nvSpPr>
        <p:spPr>
          <a:xfrm>
            <a:off x="5778500" y="1143000"/>
            <a:ext cx="4953000" cy="4826000"/>
          </a:xfrm>
          <a:prstGeom prst="rect">
            <a:avLst/>
          </a:prstGeom>
          <a:solidFill>
            <a:srgbClr val="FFFFFF"/>
          </a:solidFill>
          <a:ln>
            <a:solidFill>
              <a:srgbClr val="F2E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8977F233-1154-C3DF-E168-98AE63846D4B}"/>
              </a:ext>
            </a:extLst>
          </p:cNvPr>
          <p:cNvSpPr txBox="1"/>
          <p:nvPr/>
        </p:nvSpPr>
        <p:spPr>
          <a:xfrm>
            <a:off x="825500" y="1397000"/>
            <a:ext cx="4191000" cy="400110"/>
          </a:xfrm>
          <a:prstGeom prst="rect">
            <a:avLst/>
          </a:prstGeom>
          <a:noFill/>
        </p:spPr>
        <p:txBody>
          <a:bodyPr vert="horz" rtlCol="0">
            <a:spAutoFit/>
          </a:bodyPr>
          <a:lstStyle/>
          <a:p>
            <a:r>
              <a:rPr lang="en-ID" sz="2000" b="1">
                <a:solidFill>
                  <a:srgbClr val="8A5A0E"/>
                </a:solidFill>
                <a:latin typeface="Aptos Display" panose="020B0004020202020204" pitchFamily="34" charset="0"/>
              </a:rPr>
              <a:t>Alur User</a:t>
            </a:r>
          </a:p>
        </p:txBody>
      </p:sp>
      <p:sp>
        <p:nvSpPr>
          <p:cNvPr id="6" name="TextBox 5">
            <a:extLst>
              <a:ext uri="{FF2B5EF4-FFF2-40B4-BE49-F238E27FC236}">
                <a16:creationId xmlns:a16="http://schemas.microsoft.com/office/drawing/2014/main" id="{BCE62E59-0E84-A810-44FD-E770B3B2A8CD}"/>
              </a:ext>
            </a:extLst>
          </p:cNvPr>
          <p:cNvSpPr txBox="1"/>
          <p:nvPr/>
        </p:nvSpPr>
        <p:spPr>
          <a:xfrm>
            <a:off x="825500" y="1905000"/>
            <a:ext cx="4191000" cy="2446824"/>
          </a:xfrm>
          <a:prstGeom prst="rect">
            <a:avLst/>
          </a:prstGeom>
          <a:noFill/>
        </p:spPr>
        <p:txBody>
          <a:bodyPr vert="horz" rtlCol="0">
            <a:spAutoFit/>
          </a:bodyPr>
          <a:lstStyle/>
          <a:p>
            <a:pPr marL="342900" indent="-342900">
              <a:spcAft>
                <a:spcPts val="800"/>
              </a:spcAft>
              <a:buFont typeface="+mj-lt"/>
              <a:buChar char="•"/>
            </a:pPr>
            <a:r>
              <a:rPr lang="en-ID" sz="1700">
                <a:solidFill>
                  <a:srgbClr val="333333"/>
                </a:solidFill>
                <a:latin typeface="Aptos" panose="020B0004020202020204" pitchFamily="34" charset="0"/>
              </a:rPr>
              <a:t>User membuka form laporan dari HP atau desktop.User memilih tipe layanan: Receptionist, Housekeeping, atau Laundry.</a:t>
            </a:r>
            <a:r>
              <a:rPr lang="de-DE" sz="1700">
                <a:solidFill>
                  <a:srgbClr val="333333"/>
                </a:solidFill>
                <a:latin typeface="Aptos" panose="020B0004020202020204" pitchFamily="34" charset="0"/>
              </a:rPr>
              <a:t>User mengisi lokasi, deskripsi masalah, dan foto pendukung.Sistem membuat nomor tiket otomatis sehingga laporan tidak mudah hilang.User dapat melakukan tracking status laporan.</a:t>
            </a:r>
            <a:endParaRPr lang="en-ID" sz="1700">
              <a:solidFill>
                <a:srgbClr val="333333"/>
              </a:solidFill>
              <a:latin typeface="Aptos" panose="020B0004020202020204" pitchFamily="34" charset="0"/>
            </a:endParaRPr>
          </a:p>
        </p:txBody>
      </p:sp>
      <p:sp>
        <p:nvSpPr>
          <p:cNvPr id="7" name="TextBox 6">
            <a:extLst>
              <a:ext uri="{FF2B5EF4-FFF2-40B4-BE49-F238E27FC236}">
                <a16:creationId xmlns:a16="http://schemas.microsoft.com/office/drawing/2014/main" id="{EEA1C942-6DC4-499A-872A-987A21C34E24}"/>
              </a:ext>
            </a:extLst>
          </p:cNvPr>
          <p:cNvSpPr txBox="1"/>
          <p:nvPr/>
        </p:nvSpPr>
        <p:spPr>
          <a:xfrm>
            <a:off x="6032500" y="1397000"/>
            <a:ext cx="4191000" cy="400110"/>
          </a:xfrm>
          <a:prstGeom prst="rect">
            <a:avLst/>
          </a:prstGeom>
          <a:noFill/>
        </p:spPr>
        <p:txBody>
          <a:bodyPr vert="horz" rtlCol="0">
            <a:spAutoFit/>
          </a:bodyPr>
          <a:lstStyle/>
          <a:p>
            <a:r>
              <a:rPr lang="en-ID" sz="2000" b="1">
                <a:solidFill>
                  <a:srgbClr val="8A5A0E"/>
                </a:solidFill>
                <a:latin typeface="Aptos Display" panose="020B0004020202020204" pitchFamily="34" charset="0"/>
              </a:rPr>
              <a:t>Nilai Bisnis</a:t>
            </a:r>
          </a:p>
        </p:txBody>
      </p:sp>
      <p:sp>
        <p:nvSpPr>
          <p:cNvPr id="8" name="TextBox 7">
            <a:extLst>
              <a:ext uri="{FF2B5EF4-FFF2-40B4-BE49-F238E27FC236}">
                <a16:creationId xmlns:a16="http://schemas.microsoft.com/office/drawing/2014/main" id="{A8B3F852-27A5-023C-9293-5EAF20AC6FB6}"/>
              </a:ext>
            </a:extLst>
          </p:cNvPr>
          <p:cNvSpPr txBox="1"/>
          <p:nvPr/>
        </p:nvSpPr>
        <p:spPr>
          <a:xfrm>
            <a:off x="6032500" y="1905000"/>
            <a:ext cx="4191000" cy="2446824"/>
          </a:xfrm>
          <a:prstGeom prst="rect">
            <a:avLst/>
          </a:prstGeom>
          <a:noFill/>
        </p:spPr>
        <p:txBody>
          <a:bodyPr vert="horz" rtlCol="0">
            <a:spAutoFit/>
          </a:bodyPr>
          <a:lstStyle/>
          <a:p>
            <a:pPr marL="342900" indent="-342900">
              <a:spcAft>
                <a:spcPts val="800"/>
              </a:spcAft>
              <a:buFont typeface="+mj-lt"/>
              <a:buChar char="•"/>
            </a:pPr>
            <a:r>
              <a:rPr lang="de-DE" sz="1700">
                <a:solidFill>
                  <a:srgbClr val="333333"/>
                </a:solidFill>
                <a:latin typeface="Aptos" panose="020B0004020202020204" pitchFamily="34" charset="0"/>
              </a:rPr>
              <a:t>Laporan lebih tertib dan terdokumentasi.Mengurangi ketergantungan pada chat personal.</a:t>
            </a:r>
            <a:r>
              <a:rPr lang="nn-NO" sz="1700">
                <a:solidFill>
                  <a:srgbClr val="333333"/>
                </a:solidFill>
                <a:latin typeface="Aptos" panose="020B0004020202020204" pitchFamily="34" charset="0"/>
              </a:rPr>
              <a:t>Memudahkan prioritas penanganan berdasarkan data.Meningkatkan rasa percaya user karena laporan punya bukti tindak lanjut.Memberi dasar data untuk evaluasi kualitas layanan.</a:t>
            </a:r>
            <a:endParaRPr lang="en-ID" sz="1700">
              <a:solidFill>
                <a:srgbClr val="333333"/>
              </a:solidFill>
              <a:latin typeface="Aptos" panose="020B0004020202020204" pitchFamily="34" charset="0"/>
            </a:endParaRPr>
          </a:p>
        </p:txBody>
      </p:sp>
    </p:spTree>
    <p:extLst>
      <p:ext uri="{BB962C8B-B14F-4D97-AF65-F5344CB8AC3E}">
        <p14:creationId xmlns:p14="http://schemas.microsoft.com/office/powerpoint/2010/main" val="122441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01D352-AB1F-7BD7-D378-68C05031648D}"/>
              </a:ext>
            </a:extLst>
          </p:cNvPr>
          <p:cNvSpPr txBox="1"/>
          <p:nvPr/>
        </p:nvSpPr>
        <p:spPr>
          <a:xfrm>
            <a:off x="571500" y="317500"/>
            <a:ext cx="10541000" cy="461665"/>
          </a:xfrm>
          <a:prstGeom prst="rect">
            <a:avLst/>
          </a:prstGeom>
          <a:noFill/>
        </p:spPr>
        <p:txBody>
          <a:bodyPr vert="horz" rtlCol="0">
            <a:spAutoFit/>
          </a:bodyPr>
          <a:lstStyle/>
          <a:p>
            <a:r>
              <a:rPr lang="en-ID" sz="2400" b="1">
                <a:solidFill>
                  <a:srgbClr val="5D3617"/>
                </a:solidFill>
                <a:latin typeface="Aptos Display" panose="020B0004020202020204" pitchFamily="34" charset="0"/>
              </a:rPr>
              <a:t>Tahap 2: Dashboard Operasional dan Monitoring Penuh</a:t>
            </a:r>
          </a:p>
        </p:txBody>
      </p:sp>
      <p:sp>
        <p:nvSpPr>
          <p:cNvPr id="3" name="Rectangle 2">
            <a:extLst>
              <a:ext uri="{FF2B5EF4-FFF2-40B4-BE49-F238E27FC236}">
                <a16:creationId xmlns:a16="http://schemas.microsoft.com/office/drawing/2014/main" id="{32BD30F9-37B1-7307-0762-2B69DE2F546D}"/>
              </a:ext>
            </a:extLst>
          </p:cNvPr>
          <p:cNvSpPr/>
          <p:nvPr/>
        </p:nvSpPr>
        <p:spPr>
          <a:xfrm>
            <a:off x="571500" y="1143000"/>
            <a:ext cx="4953000" cy="4826000"/>
          </a:xfrm>
          <a:prstGeom prst="rect">
            <a:avLst/>
          </a:prstGeom>
          <a:solidFill>
            <a:srgbClr val="FFFFFF"/>
          </a:solidFill>
          <a:ln>
            <a:solidFill>
              <a:srgbClr val="F2E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3">
            <a:extLst>
              <a:ext uri="{FF2B5EF4-FFF2-40B4-BE49-F238E27FC236}">
                <a16:creationId xmlns:a16="http://schemas.microsoft.com/office/drawing/2014/main" id="{3D6877B4-09BB-16F5-996F-6A3183B6769D}"/>
              </a:ext>
            </a:extLst>
          </p:cNvPr>
          <p:cNvSpPr/>
          <p:nvPr/>
        </p:nvSpPr>
        <p:spPr>
          <a:xfrm>
            <a:off x="5778500" y="1143000"/>
            <a:ext cx="4953000" cy="4826000"/>
          </a:xfrm>
          <a:prstGeom prst="rect">
            <a:avLst/>
          </a:prstGeom>
          <a:solidFill>
            <a:srgbClr val="FFFFFF"/>
          </a:solidFill>
          <a:ln>
            <a:solidFill>
              <a:srgbClr val="F2E2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5EF0C94C-7929-D97A-512E-E3FE4A9F5233}"/>
              </a:ext>
            </a:extLst>
          </p:cNvPr>
          <p:cNvSpPr txBox="1"/>
          <p:nvPr/>
        </p:nvSpPr>
        <p:spPr>
          <a:xfrm>
            <a:off x="825500" y="1397000"/>
            <a:ext cx="4191000" cy="400110"/>
          </a:xfrm>
          <a:prstGeom prst="rect">
            <a:avLst/>
          </a:prstGeom>
          <a:noFill/>
        </p:spPr>
        <p:txBody>
          <a:bodyPr vert="horz" rtlCol="0">
            <a:spAutoFit/>
          </a:bodyPr>
          <a:lstStyle/>
          <a:p>
            <a:r>
              <a:rPr lang="en-ID" sz="2000" b="1">
                <a:solidFill>
                  <a:srgbClr val="8A5A0E"/>
                </a:solidFill>
                <a:latin typeface="Aptos Display" panose="020B0004020202020204" pitchFamily="34" charset="0"/>
              </a:rPr>
              <a:t>Struktur Pengguna</a:t>
            </a:r>
          </a:p>
        </p:txBody>
      </p:sp>
      <p:sp>
        <p:nvSpPr>
          <p:cNvPr id="6" name="TextBox 5">
            <a:extLst>
              <a:ext uri="{FF2B5EF4-FFF2-40B4-BE49-F238E27FC236}">
                <a16:creationId xmlns:a16="http://schemas.microsoft.com/office/drawing/2014/main" id="{BF858CC7-EE09-230B-92C9-8D7EC12BB032}"/>
              </a:ext>
            </a:extLst>
          </p:cNvPr>
          <p:cNvSpPr txBox="1"/>
          <p:nvPr/>
        </p:nvSpPr>
        <p:spPr>
          <a:xfrm>
            <a:off x="825500" y="1905000"/>
            <a:ext cx="4191000" cy="1923604"/>
          </a:xfrm>
          <a:prstGeom prst="rect">
            <a:avLst/>
          </a:prstGeom>
          <a:noFill/>
        </p:spPr>
        <p:txBody>
          <a:bodyPr vert="horz" rtlCol="0">
            <a:spAutoFit/>
          </a:bodyPr>
          <a:lstStyle/>
          <a:p>
            <a:pPr marL="342900" indent="-342900">
              <a:spcAft>
                <a:spcPts val="800"/>
              </a:spcAft>
              <a:buFont typeface="+mj-lt"/>
              <a:buChar char="•"/>
            </a:pPr>
            <a:r>
              <a:rPr lang="en-US" sz="1700">
                <a:solidFill>
                  <a:srgbClr val="333333"/>
                </a:solidFill>
                <a:latin typeface="Aptos" panose="020B0004020202020204" pitchFamily="34" charset="0"/>
              </a:rPr>
              <a:t>4 sub user operasional: Superadmin, Receptionist, Housekeeping, dan Laundry.Masing-masing tim fokus pada tipe laporan yang menjadi tanggung jawabnya.Owner atau management dapat memantau keseluruhan performa dari satu dashboard.</a:t>
            </a:r>
            <a:endParaRPr lang="en-ID" sz="1700">
              <a:solidFill>
                <a:srgbClr val="333333"/>
              </a:solidFill>
              <a:latin typeface="Aptos" panose="020B0004020202020204" pitchFamily="34" charset="0"/>
            </a:endParaRPr>
          </a:p>
        </p:txBody>
      </p:sp>
      <p:sp>
        <p:nvSpPr>
          <p:cNvPr id="7" name="TextBox 6">
            <a:extLst>
              <a:ext uri="{FF2B5EF4-FFF2-40B4-BE49-F238E27FC236}">
                <a16:creationId xmlns:a16="http://schemas.microsoft.com/office/drawing/2014/main" id="{C9816218-CE18-923F-FD48-2B0C14679A85}"/>
              </a:ext>
            </a:extLst>
          </p:cNvPr>
          <p:cNvSpPr txBox="1"/>
          <p:nvPr/>
        </p:nvSpPr>
        <p:spPr>
          <a:xfrm>
            <a:off x="6032500" y="1397000"/>
            <a:ext cx="4191000" cy="400110"/>
          </a:xfrm>
          <a:prstGeom prst="rect">
            <a:avLst/>
          </a:prstGeom>
          <a:noFill/>
        </p:spPr>
        <p:txBody>
          <a:bodyPr vert="horz" rtlCol="0">
            <a:spAutoFit/>
          </a:bodyPr>
          <a:lstStyle/>
          <a:p>
            <a:r>
              <a:rPr lang="en-ID" sz="2000" b="1">
                <a:solidFill>
                  <a:srgbClr val="8A5A0E"/>
                </a:solidFill>
                <a:latin typeface="Aptos Display" panose="020B0004020202020204" pitchFamily="34" charset="0"/>
              </a:rPr>
              <a:t>Kemampuan Dashboard</a:t>
            </a:r>
          </a:p>
        </p:txBody>
      </p:sp>
      <p:sp>
        <p:nvSpPr>
          <p:cNvPr id="8" name="TextBox 7">
            <a:extLst>
              <a:ext uri="{FF2B5EF4-FFF2-40B4-BE49-F238E27FC236}">
                <a16:creationId xmlns:a16="http://schemas.microsoft.com/office/drawing/2014/main" id="{6073D2E3-7EFF-F1E7-C22A-4C9E6226F768}"/>
              </a:ext>
            </a:extLst>
          </p:cNvPr>
          <p:cNvSpPr txBox="1"/>
          <p:nvPr/>
        </p:nvSpPr>
        <p:spPr>
          <a:xfrm>
            <a:off x="6032500" y="1905000"/>
            <a:ext cx="4191000" cy="2185214"/>
          </a:xfrm>
          <a:prstGeom prst="rect">
            <a:avLst/>
          </a:prstGeom>
          <a:noFill/>
        </p:spPr>
        <p:txBody>
          <a:bodyPr vert="horz" rtlCol="0">
            <a:spAutoFit/>
          </a:bodyPr>
          <a:lstStyle/>
          <a:p>
            <a:pPr marL="342900" indent="-342900">
              <a:spcAft>
                <a:spcPts val="800"/>
              </a:spcAft>
              <a:buFont typeface="+mj-lt"/>
              <a:buChar char="•"/>
            </a:pPr>
            <a:r>
              <a:rPr lang="en-US" sz="1700">
                <a:solidFill>
                  <a:srgbClr val="333333"/>
                </a:solidFill>
                <a:latin typeface="Aptos" panose="020B0004020202020204" pitchFamily="34" charset="0"/>
              </a:rPr>
              <a:t>Melihat total laporan, open, progress, closed, dan rejected.Mengetahui complaint yang overdue dan perlu intervensi cepat.Memantau analitik pelapor, tren laporan, dan distribusi jenis layanan.Membuat monitoring lebih objektif karena semua berbasis data.</a:t>
            </a:r>
            <a:endParaRPr lang="en-ID" sz="1700">
              <a:solidFill>
                <a:srgbClr val="333333"/>
              </a:solidFill>
              <a:latin typeface="Aptos" panose="020B0004020202020204" pitchFamily="34" charset="0"/>
            </a:endParaRPr>
          </a:p>
        </p:txBody>
      </p:sp>
    </p:spTree>
    <p:extLst>
      <p:ext uri="{BB962C8B-B14F-4D97-AF65-F5344CB8AC3E}">
        <p14:creationId xmlns:p14="http://schemas.microsoft.com/office/powerpoint/2010/main" val="1764060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5517B-CDD5-A133-0C19-6E6CC9319AAE}"/>
              </a:ext>
            </a:extLst>
          </p:cNvPr>
          <p:cNvSpPr>
            <a:spLocks noGrp="1"/>
          </p:cNvSpPr>
          <p:nvPr>
            <p:ph type="title"/>
          </p:nvPr>
        </p:nvSpPr>
        <p:spPr/>
        <p:txBody>
          <a:bodyPr>
            <a:normAutofit/>
          </a:bodyPr>
          <a:lstStyle/>
          <a:p>
            <a:r>
              <a:rPr lang="en-US" sz="2600" b="1">
                <a:solidFill>
                  <a:srgbClr val="5D3617"/>
                </a:solidFill>
                <a:latin typeface="Aptos Display" panose="020B0004020202020204" pitchFamily="34" charset="0"/>
              </a:rPr>
              <a:t>Top Laporan Membentuk Budaya Service Lebih Baik</a:t>
            </a:r>
            <a:endParaRPr lang="en-ID" sz="2600" b="1">
              <a:solidFill>
                <a:srgbClr val="5D3617"/>
              </a:solidFill>
              <a:latin typeface="Aptos Display" panose="020B0004020202020204" pitchFamily="34" charset="0"/>
            </a:endParaRPr>
          </a:p>
        </p:txBody>
      </p:sp>
      <p:sp>
        <p:nvSpPr>
          <p:cNvPr id="3" name="Text Placeholder 2">
            <a:extLst>
              <a:ext uri="{FF2B5EF4-FFF2-40B4-BE49-F238E27FC236}">
                <a16:creationId xmlns:a16="http://schemas.microsoft.com/office/drawing/2014/main" id="{E2CDAAFA-0AAB-4CC6-2D21-C2F84C97BD51}"/>
              </a:ext>
            </a:extLst>
          </p:cNvPr>
          <p:cNvSpPr>
            <a:spLocks noGrp="1"/>
          </p:cNvSpPr>
          <p:nvPr>
            <p:ph type="body" idx="1"/>
          </p:nvPr>
        </p:nvSpPr>
        <p:spPr>
          <a:xfrm>
            <a:off x="698500" y="1396999"/>
            <a:ext cx="10414000" cy="4572000"/>
          </a:xfrm>
        </p:spPr>
        <p:txBody>
          <a:bodyPr>
            <a:normAutofit/>
          </a:bodyPr>
          <a:lstStyle/>
          <a:p>
            <a:pPr>
              <a:spcAft>
                <a:spcPts val="1000"/>
              </a:spcAft>
            </a:pPr>
            <a:r>
              <a:rPr lang="en-ID" sz="2000">
                <a:solidFill>
                  <a:srgbClr val="333333"/>
                </a:solidFill>
                <a:latin typeface="Aptos" panose="020B0004020202020204" pitchFamily="34" charset="0"/>
              </a:rPr>
              <a:t>Data top pelapor menunjukkan siapa yang aktif membantu menjaga kualitas area kerja.Dengan sistem ini, semua orang dapat menjadi agen untuk perbaikan service.Informasi tersebut bukan untuk mencari kesalahan, tetapi untuk mempercepat deteksi masalah operasional.Ke depan, top pelapor dapat dipakai sebagai dasar pemberian reward dan apresiasi.</a:t>
            </a:r>
          </a:p>
        </p:txBody>
      </p:sp>
    </p:spTree>
    <p:extLst>
      <p:ext uri="{BB962C8B-B14F-4D97-AF65-F5344CB8AC3E}">
        <p14:creationId xmlns:p14="http://schemas.microsoft.com/office/powerpoint/2010/main" val="2788524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729D2-F865-A287-0987-AAF967230CEE}"/>
              </a:ext>
            </a:extLst>
          </p:cNvPr>
          <p:cNvSpPr>
            <a:spLocks noGrp="1"/>
          </p:cNvSpPr>
          <p:nvPr>
            <p:ph type="title"/>
          </p:nvPr>
        </p:nvSpPr>
        <p:spPr/>
        <p:txBody>
          <a:bodyPr>
            <a:normAutofit/>
          </a:bodyPr>
          <a:lstStyle/>
          <a:p>
            <a:r>
              <a:rPr lang="en-ID" sz="2600" b="1">
                <a:solidFill>
                  <a:srgbClr val="5D3617"/>
                </a:solidFill>
                <a:latin typeface="Aptos Display" panose="020B0004020202020204" pitchFamily="34" charset="0"/>
              </a:rPr>
              <a:t>Arah Lanjutan: Reward dan Feedback Service</a:t>
            </a:r>
          </a:p>
        </p:txBody>
      </p:sp>
      <p:sp>
        <p:nvSpPr>
          <p:cNvPr id="3" name="Text Placeholder 2">
            <a:extLst>
              <a:ext uri="{FF2B5EF4-FFF2-40B4-BE49-F238E27FC236}">
                <a16:creationId xmlns:a16="http://schemas.microsoft.com/office/drawing/2014/main" id="{63A895CE-18F1-F326-E693-3784DF4C443E}"/>
              </a:ext>
            </a:extLst>
          </p:cNvPr>
          <p:cNvSpPr>
            <a:spLocks noGrp="1"/>
          </p:cNvSpPr>
          <p:nvPr>
            <p:ph type="body" idx="1"/>
          </p:nvPr>
        </p:nvSpPr>
        <p:spPr>
          <a:xfrm>
            <a:off x="698500" y="1396999"/>
            <a:ext cx="10414000" cy="4572000"/>
          </a:xfrm>
        </p:spPr>
        <p:txBody>
          <a:bodyPr>
            <a:normAutofit/>
          </a:bodyPr>
          <a:lstStyle/>
          <a:p>
            <a:pPr>
              <a:spcAft>
                <a:spcPts val="1000"/>
              </a:spcAft>
            </a:pPr>
            <a:r>
              <a:rPr lang="en-ID" sz="2000">
                <a:solidFill>
                  <a:srgbClr val="333333"/>
                </a:solidFill>
                <a:latin typeface="Aptos" panose="020B0004020202020204" pitchFamily="34" charset="0"/>
              </a:rPr>
              <a:t>Pelapor yang aktif dan berkualitas dapat diberi reward sebagai bentuk partisipasi positif.Tim service juga dapat dievaluasi dari kecepatan respon, jumlah closed, dan feedback pengguna.Management dapat memiliki sistem apresiasi berbasis data, bukan asumsi.Feedback loop ini akan membantu menaikkan disiplin kerja sekaligus kepuasan user.</a:t>
            </a:r>
          </a:p>
        </p:txBody>
      </p:sp>
    </p:spTree>
    <p:extLst>
      <p:ext uri="{BB962C8B-B14F-4D97-AF65-F5344CB8AC3E}">
        <p14:creationId xmlns:p14="http://schemas.microsoft.com/office/powerpoint/2010/main" val="32281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EC66D6-3E77-5BC2-75A9-4C77811CA71C}"/>
              </a:ext>
            </a:extLst>
          </p:cNvPr>
          <p:cNvSpPr txBox="1"/>
          <p:nvPr/>
        </p:nvSpPr>
        <p:spPr>
          <a:xfrm>
            <a:off x="571500" y="304800"/>
            <a:ext cx="10541000" cy="461665"/>
          </a:xfrm>
          <a:prstGeom prst="rect">
            <a:avLst/>
          </a:prstGeom>
          <a:noFill/>
        </p:spPr>
        <p:txBody>
          <a:bodyPr vert="horz" rtlCol="0">
            <a:spAutoFit/>
          </a:bodyPr>
          <a:lstStyle/>
          <a:p>
            <a:r>
              <a:rPr lang="sv-SE" sz="2400" b="1">
                <a:solidFill>
                  <a:srgbClr val="5D3617"/>
                </a:solidFill>
                <a:latin typeface="Aptos Display" panose="020B0004020202020204" pitchFamily="34" charset="0"/>
              </a:rPr>
              <a:t>Simulasi Dampak Jika Sistem Berjalan Konsisten</a:t>
            </a:r>
            <a:endParaRPr lang="en-ID" sz="2400" b="1">
              <a:solidFill>
                <a:srgbClr val="5D3617"/>
              </a:solidFill>
              <a:latin typeface="Aptos Display" panose="020B0004020202020204" pitchFamily="34" charset="0"/>
            </a:endParaRPr>
          </a:p>
        </p:txBody>
      </p:sp>
      <p:sp>
        <p:nvSpPr>
          <p:cNvPr id="3" name="TextBox 2">
            <a:extLst>
              <a:ext uri="{FF2B5EF4-FFF2-40B4-BE49-F238E27FC236}">
                <a16:creationId xmlns:a16="http://schemas.microsoft.com/office/drawing/2014/main" id="{96306BB9-5654-3E71-1420-EED518ADC899}"/>
              </a:ext>
            </a:extLst>
          </p:cNvPr>
          <p:cNvSpPr txBox="1"/>
          <p:nvPr/>
        </p:nvSpPr>
        <p:spPr>
          <a:xfrm>
            <a:off x="571500" y="762000"/>
            <a:ext cx="10541000" cy="276999"/>
          </a:xfrm>
          <a:prstGeom prst="rect">
            <a:avLst/>
          </a:prstGeom>
          <a:noFill/>
        </p:spPr>
        <p:txBody>
          <a:bodyPr vert="horz" rtlCol="0">
            <a:spAutoFit/>
          </a:bodyPr>
          <a:lstStyle/>
          <a:p>
            <a:r>
              <a:rPr lang="en-ID" sz="1200">
                <a:solidFill>
                  <a:srgbClr val="666666"/>
                </a:solidFill>
                <a:latin typeface="Aptos" panose="020B0004020202020204" pitchFamily="34" charset="0"/>
              </a:rPr>
              <a:t>Asumsi sederhana berbasis volume laporan saat ini: sekitar 115 laporan per periode.</a:t>
            </a:r>
          </a:p>
        </p:txBody>
      </p:sp>
      <p:sp>
        <p:nvSpPr>
          <p:cNvPr id="4" name="Rectangle 3">
            <a:extLst>
              <a:ext uri="{FF2B5EF4-FFF2-40B4-BE49-F238E27FC236}">
                <a16:creationId xmlns:a16="http://schemas.microsoft.com/office/drawing/2014/main" id="{9A37B58C-F862-8825-5C3D-307C7896A686}"/>
              </a:ext>
            </a:extLst>
          </p:cNvPr>
          <p:cNvSpPr/>
          <p:nvPr/>
        </p:nvSpPr>
        <p:spPr>
          <a:xfrm>
            <a:off x="571500" y="1397000"/>
            <a:ext cx="2286000" cy="2667000"/>
          </a:xfrm>
          <a:prstGeom prst="rect">
            <a:avLst/>
          </a:prstGeom>
          <a:solidFill>
            <a:srgbClr val="FDF4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CB36900C-B8D7-E432-BC6D-A885A7611451}"/>
              </a:ext>
            </a:extLst>
          </p:cNvPr>
          <p:cNvSpPr txBox="1"/>
          <p:nvPr/>
        </p:nvSpPr>
        <p:spPr>
          <a:xfrm>
            <a:off x="723900" y="1587500"/>
            <a:ext cx="1968500" cy="338554"/>
          </a:xfrm>
          <a:prstGeom prst="rect">
            <a:avLst/>
          </a:prstGeom>
          <a:noFill/>
        </p:spPr>
        <p:txBody>
          <a:bodyPr vert="horz" rtlCol="0">
            <a:spAutoFit/>
          </a:bodyPr>
          <a:lstStyle/>
          <a:p>
            <a:r>
              <a:rPr lang="en-ID" sz="1600" b="1">
                <a:solidFill>
                  <a:srgbClr val="5D3617"/>
                </a:solidFill>
                <a:latin typeface="Aptos Display" panose="020B0004020202020204" pitchFamily="34" charset="0"/>
              </a:rPr>
              <a:t>Lost Report Turun</a:t>
            </a:r>
          </a:p>
        </p:txBody>
      </p:sp>
      <p:sp>
        <p:nvSpPr>
          <p:cNvPr id="6" name="TextBox 5">
            <a:extLst>
              <a:ext uri="{FF2B5EF4-FFF2-40B4-BE49-F238E27FC236}">
                <a16:creationId xmlns:a16="http://schemas.microsoft.com/office/drawing/2014/main" id="{7F4C2BF7-3FA6-6A10-1236-CC67ACE109C4}"/>
              </a:ext>
            </a:extLst>
          </p:cNvPr>
          <p:cNvSpPr txBox="1"/>
          <p:nvPr/>
        </p:nvSpPr>
        <p:spPr>
          <a:xfrm>
            <a:off x="723900" y="2032000"/>
            <a:ext cx="1968500" cy="461665"/>
          </a:xfrm>
          <a:prstGeom prst="rect">
            <a:avLst/>
          </a:prstGeom>
          <a:noFill/>
        </p:spPr>
        <p:txBody>
          <a:bodyPr vert="horz" rtlCol="0">
            <a:spAutoFit/>
          </a:bodyPr>
          <a:lstStyle/>
          <a:p>
            <a:r>
              <a:rPr lang="en-ID" sz="2400" b="1">
                <a:solidFill>
                  <a:srgbClr val="8BA519"/>
                </a:solidFill>
                <a:latin typeface="Aptos Display" panose="020B0004020202020204" pitchFamily="34" charset="0"/>
              </a:rPr>
              <a:t>23 -&gt; 6</a:t>
            </a:r>
          </a:p>
        </p:txBody>
      </p:sp>
      <p:sp>
        <p:nvSpPr>
          <p:cNvPr id="7" name="TextBox 6">
            <a:extLst>
              <a:ext uri="{FF2B5EF4-FFF2-40B4-BE49-F238E27FC236}">
                <a16:creationId xmlns:a16="http://schemas.microsoft.com/office/drawing/2014/main" id="{0752C0E1-03E6-2336-1A1A-7D77F3BB36D0}"/>
              </a:ext>
            </a:extLst>
          </p:cNvPr>
          <p:cNvSpPr txBox="1"/>
          <p:nvPr/>
        </p:nvSpPr>
        <p:spPr>
          <a:xfrm>
            <a:off x="723900" y="2667000"/>
            <a:ext cx="1968500" cy="830997"/>
          </a:xfrm>
          <a:prstGeom prst="rect">
            <a:avLst/>
          </a:prstGeom>
          <a:noFill/>
        </p:spPr>
        <p:txBody>
          <a:bodyPr vert="horz" rtlCol="0">
            <a:spAutoFit/>
          </a:bodyPr>
          <a:lstStyle/>
          <a:p>
            <a:r>
              <a:rPr lang="en-ID" sz="1200">
                <a:solidFill>
                  <a:srgbClr val="444444"/>
                </a:solidFill>
                <a:latin typeface="Aptos" panose="020B0004020202020204" pitchFamily="34" charset="0"/>
              </a:rPr>
              <a:t>Jika laporan hilang turun dari 20% menjadi 5%, sekitar 17 laporan tambahan dapat ditangani.</a:t>
            </a:r>
          </a:p>
        </p:txBody>
      </p:sp>
      <p:sp>
        <p:nvSpPr>
          <p:cNvPr id="8" name="Rectangle 7">
            <a:extLst>
              <a:ext uri="{FF2B5EF4-FFF2-40B4-BE49-F238E27FC236}">
                <a16:creationId xmlns:a16="http://schemas.microsoft.com/office/drawing/2014/main" id="{BEE943D1-4ADB-6ADD-00F7-9FB8393BBDEC}"/>
              </a:ext>
            </a:extLst>
          </p:cNvPr>
          <p:cNvSpPr/>
          <p:nvPr/>
        </p:nvSpPr>
        <p:spPr>
          <a:xfrm>
            <a:off x="3238500" y="1397000"/>
            <a:ext cx="2286000" cy="2667000"/>
          </a:xfrm>
          <a:prstGeom prst="rect">
            <a:avLst/>
          </a:prstGeom>
          <a:solidFill>
            <a:srgbClr val="F1F7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TextBox 8">
            <a:extLst>
              <a:ext uri="{FF2B5EF4-FFF2-40B4-BE49-F238E27FC236}">
                <a16:creationId xmlns:a16="http://schemas.microsoft.com/office/drawing/2014/main" id="{E670B291-94AB-92DF-6D48-3332E849306D}"/>
              </a:ext>
            </a:extLst>
          </p:cNvPr>
          <p:cNvSpPr txBox="1"/>
          <p:nvPr/>
        </p:nvSpPr>
        <p:spPr>
          <a:xfrm>
            <a:off x="3390900" y="1587500"/>
            <a:ext cx="1968500" cy="338554"/>
          </a:xfrm>
          <a:prstGeom prst="rect">
            <a:avLst/>
          </a:prstGeom>
          <a:noFill/>
        </p:spPr>
        <p:txBody>
          <a:bodyPr vert="horz" rtlCol="0">
            <a:spAutoFit/>
          </a:bodyPr>
          <a:lstStyle/>
          <a:p>
            <a:r>
              <a:rPr lang="en-ID" sz="1600" b="1">
                <a:solidFill>
                  <a:srgbClr val="5D3617"/>
                </a:solidFill>
                <a:latin typeface="Aptos Display" panose="020B0004020202020204" pitchFamily="34" charset="0"/>
              </a:rPr>
              <a:t>Monitoring Nyata</a:t>
            </a:r>
          </a:p>
        </p:txBody>
      </p:sp>
      <p:sp>
        <p:nvSpPr>
          <p:cNvPr id="10" name="TextBox 9">
            <a:extLst>
              <a:ext uri="{FF2B5EF4-FFF2-40B4-BE49-F238E27FC236}">
                <a16:creationId xmlns:a16="http://schemas.microsoft.com/office/drawing/2014/main" id="{EF9225A7-57CC-1B45-27E3-8B41489BAC3D}"/>
              </a:ext>
            </a:extLst>
          </p:cNvPr>
          <p:cNvSpPr txBox="1"/>
          <p:nvPr/>
        </p:nvSpPr>
        <p:spPr>
          <a:xfrm>
            <a:off x="3390900" y="2032000"/>
            <a:ext cx="1968500" cy="461665"/>
          </a:xfrm>
          <a:prstGeom prst="rect">
            <a:avLst/>
          </a:prstGeom>
          <a:noFill/>
        </p:spPr>
        <p:txBody>
          <a:bodyPr vert="horz" rtlCol="0">
            <a:spAutoFit/>
          </a:bodyPr>
          <a:lstStyle/>
          <a:p>
            <a:r>
              <a:rPr lang="en-ID" sz="2400" b="1">
                <a:solidFill>
                  <a:srgbClr val="8BA519"/>
                </a:solidFill>
                <a:latin typeface="Aptos Display" panose="020B0004020202020204" pitchFamily="34" charset="0"/>
              </a:rPr>
              <a:t>100%</a:t>
            </a:r>
          </a:p>
        </p:txBody>
      </p:sp>
      <p:sp>
        <p:nvSpPr>
          <p:cNvPr id="11" name="TextBox 10">
            <a:extLst>
              <a:ext uri="{FF2B5EF4-FFF2-40B4-BE49-F238E27FC236}">
                <a16:creationId xmlns:a16="http://schemas.microsoft.com/office/drawing/2014/main" id="{CE00DFE2-F5B1-425E-8CC7-536EAC1796DD}"/>
              </a:ext>
            </a:extLst>
          </p:cNvPr>
          <p:cNvSpPr txBox="1"/>
          <p:nvPr/>
        </p:nvSpPr>
        <p:spPr>
          <a:xfrm>
            <a:off x="3390900" y="2667000"/>
            <a:ext cx="1968500" cy="830997"/>
          </a:xfrm>
          <a:prstGeom prst="rect">
            <a:avLst/>
          </a:prstGeom>
          <a:noFill/>
        </p:spPr>
        <p:txBody>
          <a:bodyPr vert="horz" rtlCol="0">
            <a:spAutoFit/>
          </a:bodyPr>
          <a:lstStyle/>
          <a:p>
            <a:r>
              <a:rPr lang="en-ID" sz="1200">
                <a:solidFill>
                  <a:srgbClr val="444444"/>
                </a:solidFill>
                <a:latin typeface="Aptos" panose="020B0004020202020204" pitchFamily="34" charset="0"/>
              </a:rPr>
              <a:t>Seluruh tiket punya status, PIC, dan histori tindak lanjut yang bisa dipantau owner.</a:t>
            </a:r>
          </a:p>
        </p:txBody>
      </p:sp>
      <p:sp>
        <p:nvSpPr>
          <p:cNvPr id="12" name="Rectangle 11">
            <a:extLst>
              <a:ext uri="{FF2B5EF4-FFF2-40B4-BE49-F238E27FC236}">
                <a16:creationId xmlns:a16="http://schemas.microsoft.com/office/drawing/2014/main" id="{DEDBB5C1-D5BA-C733-4C0C-6E8FD6485A0F}"/>
              </a:ext>
            </a:extLst>
          </p:cNvPr>
          <p:cNvSpPr/>
          <p:nvPr/>
        </p:nvSpPr>
        <p:spPr>
          <a:xfrm>
            <a:off x="5905500" y="1397000"/>
            <a:ext cx="2286000" cy="2667000"/>
          </a:xfrm>
          <a:prstGeom prst="rect">
            <a:avLst/>
          </a:prstGeom>
          <a:solidFill>
            <a:srgbClr val="E5F4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TextBox 12">
            <a:extLst>
              <a:ext uri="{FF2B5EF4-FFF2-40B4-BE49-F238E27FC236}">
                <a16:creationId xmlns:a16="http://schemas.microsoft.com/office/drawing/2014/main" id="{18764A30-807D-2FF2-1376-5BD8968D3544}"/>
              </a:ext>
            </a:extLst>
          </p:cNvPr>
          <p:cNvSpPr txBox="1"/>
          <p:nvPr/>
        </p:nvSpPr>
        <p:spPr>
          <a:xfrm>
            <a:off x="6057900" y="1587500"/>
            <a:ext cx="1968500" cy="338554"/>
          </a:xfrm>
          <a:prstGeom prst="rect">
            <a:avLst/>
          </a:prstGeom>
          <a:noFill/>
        </p:spPr>
        <p:txBody>
          <a:bodyPr vert="horz" rtlCol="0">
            <a:spAutoFit/>
          </a:bodyPr>
          <a:lstStyle/>
          <a:p>
            <a:r>
              <a:rPr lang="en-ID" sz="1600" b="1">
                <a:solidFill>
                  <a:srgbClr val="5D3617"/>
                </a:solidFill>
                <a:latin typeface="Aptos Display" panose="020B0004020202020204" pitchFamily="34" charset="0"/>
              </a:rPr>
              <a:t>Respon Lebih Cepat</a:t>
            </a:r>
          </a:p>
        </p:txBody>
      </p:sp>
      <p:sp>
        <p:nvSpPr>
          <p:cNvPr id="14" name="TextBox 13">
            <a:extLst>
              <a:ext uri="{FF2B5EF4-FFF2-40B4-BE49-F238E27FC236}">
                <a16:creationId xmlns:a16="http://schemas.microsoft.com/office/drawing/2014/main" id="{F9EABE28-9CFF-D117-E1D8-57D88530253F}"/>
              </a:ext>
            </a:extLst>
          </p:cNvPr>
          <p:cNvSpPr txBox="1"/>
          <p:nvPr/>
        </p:nvSpPr>
        <p:spPr>
          <a:xfrm>
            <a:off x="6057900" y="2032000"/>
            <a:ext cx="1968500" cy="461665"/>
          </a:xfrm>
          <a:prstGeom prst="rect">
            <a:avLst/>
          </a:prstGeom>
          <a:noFill/>
        </p:spPr>
        <p:txBody>
          <a:bodyPr vert="horz" rtlCol="0">
            <a:spAutoFit/>
          </a:bodyPr>
          <a:lstStyle/>
          <a:p>
            <a:r>
              <a:rPr lang="en-ID" sz="2400" b="1">
                <a:solidFill>
                  <a:srgbClr val="8BA519"/>
                </a:solidFill>
                <a:latin typeface="Aptos Display" panose="020B0004020202020204" pitchFamily="34" charset="0"/>
              </a:rPr>
              <a:t>+30%</a:t>
            </a:r>
          </a:p>
        </p:txBody>
      </p:sp>
      <p:sp>
        <p:nvSpPr>
          <p:cNvPr id="15" name="TextBox 14">
            <a:extLst>
              <a:ext uri="{FF2B5EF4-FFF2-40B4-BE49-F238E27FC236}">
                <a16:creationId xmlns:a16="http://schemas.microsoft.com/office/drawing/2014/main" id="{8D783DB2-48D8-8FC4-6D15-C4789CD1B94E}"/>
              </a:ext>
            </a:extLst>
          </p:cNvPr>
          <p:cNvSpPr txBox="1"/>
          <p:nvPr/>
        </p:nvSpPr>
        <p:spPr>
          <a:xfrm>
            <a:off x="6057900" y="2667000"/>
            <a:ext cx="1968500" cy="830997"/>
          </a:xfrm>
          <a:prstGeom prst="rect">
            <a:avLst/>
          </a:prstGeom>
          <a:noFill/>
        </p:spPr>
        <p:txBody>
          <a:bodyPr vert="horz" rtlCol="0">
            <a:spAutoFit/>
          </a:bodyPr>
          <a:lstStyle/>
          <a:p>
            <a:r>
              <a:rPr lang="en-US" sz="1200">
                <a:solidFill>
                  <a:srgbClr val="444444"/>
                </a:solidFill>
                <a:latin typeface="Aptos" panose="020B0004020202020204" pitchFamily="34" charset="0"/>
              </a:rPr>
              <a:t>Potensi kenaikan kepatuhan respon karena dashboard memudahkan prioritas dan follow-up.</a:t>
            </a:r>
            <a:endParaRPr lang="en-ID" sz="1200">
              <a:solidFill>
                <a:srgbClr val="444444"/>
              </a:solidFill>
              <a:latin typeface="Aptos" panose="020B0004020202020204" pitchFamily="34" charset="0"/>
            </a:endParaRPr>
          </a:p>
        </p:txBody>
      </p:sp>
      <p:sp>
        <p:nvSpPr>
          <p:cNvPr id="16" name="Rectangle 15">
            <a:extLst>
              <a:ext uri="{FF2B5EF4-FFF2-40B4-BE49-F238E27FC236}">
                <a16:creationId xmlns:a16="http://schemas.microsoft.com/office/drawing/2014/main" id="{D055BDF4-F6BE-1196-DE99-4CE120EA7A99}"/>
              </a:ext>
            </a:extLst>
          </p:cNvPr>
          <p:cNvSpPr/>
          <p:nvPr/>
        </p:nvSpPr>
        <p:spPr>
          <a:xfrm>
            <a:off x="8572500" y="1397000"/>
            <a:ext cx="2286000" cy="2667000"/>
          </a:xfrm>
          <a:prstGeom prst="rect">
            <a:avLst/>
          </a:prstGeom>
          <a:solidFill>
            <a:srgbClr val="FFEE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603BC781-216A-7E98-C303-55114AC7BBA5}"/>
              </a:ext>
            </a:extLst>
          </p:cNvPr>
          <p:cNvSpPr txBox="1"/>
          <p:nvPr/>
        </p:nvSpPr>
        <p:spPr>
          <a:xfrm>
            <a:off x="8724900" y="1587500"/>
            <a:ext cx="1968500" cy="338554"/>
          </a:xfrm>
          <a:prstGeom prst="rect">
            <a:avLst/>
          </a:prstGeom>
          <a:noFill/>
        </p:spPr>
        <p:txBody>
          <a:bodyPr vert="horz" rtlCol="0">
            <a:spAutoFit/>
          </a:bodyPr>
          <a:lstStyle/>
          <a:p>
            <a:r>
              <a:rPr lang="en-ID" sz="1600" b="1">
                <a:solidFill>
                  <a:srgbClr val="5D3617"/>
                </a:solidFill>
                <a:latin typeface="Aptos Display" panose="020B0004020202020204" pitchFamily="34" charset="0"/>
              </a:rPr>
              <a:t>Citra GA Naik</a:t>
            </a:r>
          </a:p>
        </p:txBody>
      </p:sp>
      <p:sp>
        <p:nvSpPr>
          <p:cNvPr id="18" name="TextBox 17">
            <a:extLst>
              <a:ext uri="{FF2B5EF4-FFF2-40B4-BE49-F238E27FC236}">
                <a16:creationId xmlns:a16="http://schemas.microsoft.com/office/drawing/2014/main" id="{4B66153C-ABE0-8A45-1678-C5F9B9E7249B}"/>
              </a:ext>
            </a:extLst>
          </p:cNvPr>
          <p:cNvSpPr txBox="1"/>
          <p:nvPr/>
        </p:nvSpPr>
        <p:spPr>
          <a:xfrm>
            <a:off x="8724900" y="2032000"/>
            <a:ext cx="1968500" cy="461665"/>
          </a:xfrm>
          <a:prstGeom prst="rect">
            <a:avLst/>
          </a:prstGeom>
          <a:noFill/>
        </p:spPr>
        <p:txBody>
          <a:bodyPr vert="horz" rtlCol="0">
            <a:spAutoFit/>
          </a:bodyPr>
          <a:lstStyle/>
          <a:p>
            <a:r>
              <a:rPr lang="en-ID" sz="2400" b="1">
                <a:solidFill>
                  <a:srgbClr val="8BA519"/>
                </a:solidFill>
                <a:latin typeface="Aptos Display" panose="020B0004020202020204" pitchFamily="34" charset="0"/>
              </a:rPr>
              <a:t>Terukur</a:t>
            </a:r>
          </a:p>
        </p:txBody>
      </p:sp>
      <p:sp>
        <p:nvSpPr>
          <p:cNvPr id="19" name="TextBox 18">
            <a:extLst>
              <a:ext uri="{FF2B5EF4-FFF2-40B4-BE49-F238E27FC236}">
                <a16:creationId xmlns:a16="http://schemas.microsoft.com/office/drawing/2014/main" id="{C82731EA-015D-B341-9449-D07B353357C7}"/>
              </a:ext>
            </a:extLst>
          </p:cNvPr>
          <p:cNvSpPr txBox="1"/>
          <p:nvPr/>
        </p:nvSpPr>
        <p:spPr>
          <a:xfrm>
            <a:off x="8724900" y="2667000"/>
            <a:ext cx="1968500" cy="830997"/>
          </a:xfrm>
          <a:prstGeom prst="rect">
            <a:avLst/>
          </a:prstGeom>
          <a:noFill/>
        </p:spPr>
        <p:txBody>
          <a:bodyPr vert="horz" rtlCol="0">
            <a:spAutoFit/>
          </a:bodyPr>
          <a:lstStyle/>
          <a:p>
            <a:r>
              <a:rPr lang="en-ID" sz="1200">
                <a:solidFill>
                  <a:srgbClr val="444444"/>
                </a:solidFill>
                <a:latin typeface="Aptos" panose="020B0004020202020204" pitchFamily="34" charset="0"/>
              </a:rPr>
              <a:t>Service quality lebih mudah dibuktikan lewat data closed, progress, top report, dan feedback.</a:t>
            </a:r>
          </a:p>
        </p:txBody>
      </p:sp>
      <p:sp>
        <p:nvSpPr>
          <p:cNvPr id="20" name="TextBox 19">
            <a:extLst>
              <a:ext uri="{FF2B5EF4-FFF2-40B4-BE49-F238E27FC236}">
                <a16:creationId xmlns:a16="http://schemas.microsoft.com/office/drawing/2014/main" id="{63A1397D-248A-28D9-A624-891F1F329630}"/>
              </a:ext>
            </a:extLst>
          </p:cNvPr>
          <p:cNvSpPr txBox="1"/>
          <p:nvPr/>
        </p:nvSpPr>
        <p:spPr>
          <a:xfrm>
            <a:off x="571500" y="4445000"/>
            <a:ext cx="10287000" cy="923330"/>
          </a:xfrm>
          <a:prstGeom prst="rect">
            <a:avLst/>
          </a:prstGeom>
          <a:noFill/>
        </p:spPr>
        <p:txBody>
          <a:bodyPr vert="horz" rtlCol="0">
            <a:spAutoFit/>
          </a:bodyPr>
          <a:lstStyle/>
          <a:p>
            <a:r>
              <a:rPr lang="en-ID" sz="1800">
                <a:solidFill>
                  <a:srgbClr val="333333"/>
                </a:solidFill>
                <a:latin typeface="Aptos" panose="020B0004020202020204" pitchFamily="34" charset="0"/>
              </a:rPr>
              <a:t>Dampak utama bagi GA: lebih sedikit laporan yang hilang, proses kerja lebih disiplin, owner mendapat kontrol penuh, dan service excellence lebih mudah dibangun karena ada data untuk reward, evaluasi, dan perbaikan.</a:t>
            </a:r>
          </a:p>
        </p:txBody>
      </p:sp>
    </p:spTree>
    <p:extLst>
      <p:ext uri="{BB962C8B-B14F-4D97-AF65-F5344CB8AC3E}">
        <p14:creationId xmlns:p14="http://schemas.microsoft.com/office/powerpoint/2010/main" val="3415775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D8F3A-BF48-ACE1-7836-84ECD364C5AB}"/>
              </a:ext>
            </a:extLst>
          </p:cNvPr>
          <p:cNvSpPr>
            <a:spLocks noGrp="1"/>
          </p:cNvSpPr>
          <p:nvPr>
            <p:ph type="title"/>
          </p:nvPr>
        </p:nvSpPr>
        <p:spPr/>
        <p:txBody>
          <a:bodyPr>
            <a:normAutofit/>
          </a:bodyPr>
          <a:lstStyle/>
          <a:p>
            <a:r>
              <a:rPr lang="fr-FR" sz="2600" b="1">
                <a:solidFill>
                  <a:srgbClr val="5D3617"/>
                </a:solidFill>
                <a:latin typeface="Aptos Display" panose="020B0004020202020204" pitchFamily="34" charset="0"/>
              </a:rPr>
              <a:t>KPI yang Bisa Dipantau Management</a:t>
            </a:r>
            <a:endParaRPr lang="en-ID" sz="2600" b="1">
              <a:solidFill>
                <a:srgbClr val="5D3617"/>
              </a:solidFill>
              <a:latin typeface="Aptos Display" panose="020B0004020202020204" pitchFamily="34" charset="0"/>
            </a:endParaRPr>
          </a:p>
        </p:txBody>
      </p:sp>
      <p:sp>
        <p:nvSpPr>
          <p:cNvPr id="3" name="Text Placeholder 2">
            <a:extLst>
              <a:ext uri="{FF2B5EF4-FFF2-40B4-BE49-F238E27FC236}">
                <a16:creationId xmlns:a16="http://schemas.microsoft.com/office/drawing/2014/main" id="{9647B111-F434-45A5-8256-03FED42C9B97}"/>
              </a:ext>
            </a:extLst>
          </p:cNvPr>
          <p:cNvSpPr>
            <a:spLocks noGrp="1"/>
          </p:cNvSpPr>
          <p:nvPr>
            <p:ph type="body" idx="1"/>
          </p:nvPr>
        </p:nvSpPr>
        <p:spPr>
          <a:xfrm>
            <a:off x="698500" y="1396999"/>
            <a:ext cx="10414000" cy="4572000"/>
          </a:xfrm>
        </p:spPr>
        <p:txBody>
          <a:bodyPr>
            <a:normAutofit/>
          </a:bodyPr>
          <a:lstStyle/>
          <a:p>
            <a:pPr>
              <a:spcAft>
                <a:spcPts val="1000"/>
              </a:spcAft>
            </a:pPr>
            <a:r>
              <a:rPr lang="en-ID" sz="2000">
                <a:solidFill>
                  <a:srgbClr val="333333"/>
                </a:solidFill>
                <a:latin typeface="Aptos" panose="020B0004020202020204" pitchFamily="34" charset="0"/>
              </a:rPr>
              <a:t>Jumlah laporan masuk per periode dan per jenis layanan.</a:t>
            </a:r>
            <a:r>
              <a:rPr lang="en-US" sz="2000">
                <a:solidFill>
                  <a:srgbClr val="333333"/>
                </a:solidFill>
                <a:latin typeface="Aptos" panose="020B0004020202020204" pitchFamily="34" charset="0"/>
              </a:rPr>
              <a:t>Persentase laporan open, progress, closed, dan rejected.</a:t>
            </a:r>
            <a:r>
              <a:rPr lang="fi-FI" sz="2000">
                <a:solidFill>
                  <a:srgbClr val="333333"/>
                </a:solidFill>
                <a:latin typeface="Aptos" panose="020B0004020202020204" pitchFamily="34" charset="0"/>
              </a:rPr>
              <a:t>Jumlah overdue dan lama rata-rata penyelesaian.Top pelapor, top area masalah, dan kualitas tindak lanjut tim service.Perbandingan sebelum dan sesudah aplikasi untuk melihat dampak nyata.</a:t>
            </a:r>
            <a:endParaRPr lang="en-ID" sz="2000">
              <a:solidFill>
                <a:srgbClr val="333333"/>
              </a:solidFill>
              <a:latin typeface="Aptos" panose="020B0004020202020204" pitchFamily="34" charset="0"/>
            </a:endParaRPr>
          </a:p>
        </p:txBody>
      </p:sp>
      <p:sp>
        <p:nvSpPr>
          <p:cNvPr id="4" name="TextBox 3">
            <a:extLst>
              <a:ext uri="{FF2B5EF4-FFF2-40B4-BE49-F238E27FC236}">
                <a16:creationId xmlns:a16="http://schemas.microsoft.com/office/drawing/2014/main" id="{3FA55D8B-89F9-F441-CC29-7A83835D2948}"/>
              </a:ext>
            </a:extLst>
          </p:cNvPr>
          <p:cNvSpPr txBox="1"/>
          <p:nvPr/>
        </p:nvSpPr>
        <p:spPr>
          <a:xfrm>
            <a:off x="698500" y="6159500"/>
            <a:ext cx="10414000" cy="261610"/>
          </a:xfrm>
          <a:prstGeom prst="rect">
            <a:avLst/>
          </a:prstGeom>
          <a:noFill/>
        </p:spPr>
        <p:txBody>
          <a:bodyPr vert="horz" rtlCol="0">
            <a:spAutoFit/>
          </a:bodyPr>
          <a:lstStyle/>
          <a:p>
            <a:r>
              <a:rPr lang="en-ID" sz="1100">
                <a:solidFill>
                  <a:srgbClr val="6B6B6B"/>
                </a:solidFill>
                <a:latin typeface="Aptos" panose="020B0004020202020204" pitchFamily="34" charset="0"/>
              </a:rPr>
              <a:t>Saran: gunakan masa evaluasi 1 sampai 3 bulan untuk baseline dan pembuktian hasil.</a:t>
            </a:r>
          </a:p>
        </p:txBody>
      </p:sp>
    </p:spTree>
    <p:extLst>
      <p:ext uri="{BB962C8B-B14F-4D97-AF65-F5344CB8AC3E}">
        <p14:creationId xmlns:p14="http://schemas.microsoft.com/office/powerpoint/2010/main" val="3042610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D65B1-8D43-B54D-6B68-7EDD79513174}"/>
              </a:ext>
            </a:extLst>
          </p:cNvPr>
          <p:cNvSpPr>
            <a:spLocks noGrp="1"/>
          </p:cNvSpPr>
          <p:nvPr>
            <p:ph type="title"/>
          </p:nvPr>
        </p:nvSpPr>
        <p:spPr/>
        <p:txBody>
          <a:bodyPr>
            <a:normAutofit/>
          </a:bodyPr>
          <a:lstStyle/>
          <a:p>
            <a:r>
              <a:rPr lang="en-ID" sz="2600" b="1">
                <a:solidFill>
                  <a:srgbClr val="5D3617"/>
                </a:solidFill>
                <a:latin typeface="Aptos Display" panose="020B0004020202020204" pitchFamily="34" charset="0"/>
              </a:rPr>
              <a:t>Kesimpulan untuk Management</a:t>
            </a:r>
          </a:p>
        </p:txBody>
      </p:sp>
      <p:sp>
        <p:nvSpPr>
          <p:cNvPr id="3" name="Text Placeholder 2">
            <a:extLst>
              <a:ext uri="{FF2B5EF4-FFF2-40B4-BE49-F238E27FC236}">
                <a16:creationId xmlns:a16="http://schemas.microsoft.com/office/drawing/2014/main" id="{5944C73F-5837-87DE-E1F1-5212432BCC96}"/>
              </a:ext>
            </a:extLst>
          </p:cNvPr>
          <p:cNvSpPr>
            <a:spLocks noGrp="1"/>
          </p:cNvSpPr>
          <p:nvPr>
            <p:ph type="body" idx="1"/>
          </p:nvPr>
        </p:nvSpPr>
        <p:spPr>
          <a:xfrm>
            <a:off x="698500" y="1396999"/>
            <a:ext cx="10414000" cy="4572000"/>
          </a:xfrm>
        </p:spPr>
        <p:txBody>
          <a:bodyPr>
            <a:normAutofit/>
          </a:bodyPr>
          <a:lstStyle/>
          <a:p>
            <a:pPr>
              <a:spcAft>
                <a:spcPts val="1000"/>
              </a:spcAft>
            </a:pPr>
            <a:r>
              <a:rPr lang="sv-SE" sz="2000">
                <a:solidFill>
                  <a:srgbClr val="333333"/>
                </a:solidFill>
                <a:latin typeface="Aptos" panose="020B0004020202020204" pitchFamily="34" charset="0"/>
              </a:rPr>
              <a:t>Aplikasi ini menjawab masalah lost report dan lemahnya monitoring layanan.Tahap 1 membuat user mudah melapor dan laporan tidak hilang.Tahap 2 memberi dashboard penuh untuk sub user operasional dan owner.Jika berjalan konsisten, kualitas service GA akan lebih cepat, lebih terukur, dan lebih dipercaya pengguna.Data dari sistem juga membuka peluang reward, feedback, dan continuous improvement.</a:t>
            </a:r>
            <a:endParaRPr lang="en-ID" sz="2000">
              <a:solidFill>
                <a:srgbClr val="333333"/>
              </a:solidFill>
              <a:latin typeface="Aptos" panose="020B0004020202020204" pitchFamily="34" charset="0"/>
            </a:endParaRPr>
          </a:p>
        </p:txBody>
      </p:sp>
    </p:spTree>
    <p:extLst>
      <p:ext uri="{BB962C8B-B14F-4D97-AF65-F5344CB8AC3E}">
        <p14:creationId xmlns:p14="http://schemas.microsoft.com/office/powerpoint/2010/main" val="37531702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759</Words>
  <Application>Microsoft Office PowerPoint</Application>
  <PresentationFormat>On-screen Show (16:10)</PresentationFormat>
  <Paragraphs>40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SCM GA Complaint Management App</vt:lpstr>
      <vt:lpstr>Latar Belakang Permasalahan Saat Ini</vt:lpstr>
      <vt:lpstr>Apa Manfaat Utama Aplikasi Ini</vt:lpstr>
      <vt:lpstr>PowerPoint Presentation</vt:lpstr>
      <vt:lpstr>PowerPoint Presentation</vt:lpstr>
      <vt:lpstr>Top Laporan Membentuk Budaya Service Lebih Baik</vt:lpstr>
      <vt:lpstr>Arah Lanjutan: Reward dan Feedback Service</vt:lpstr>
      <vt:lpstr>PowerPoint Presentation</vt:lpstr>
      <vt:lpstr>KPI yang Bisa Dipantau Management</vt:lpstr>
      <vt:lpstr>Kesimpulan untuk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Eddy Adha Saputra</dc:creator>
  <cp:lastModifiedBy>Eddy Adha Saputra</cp:lastModifiedBy>
  <cp:revision>1</cp:revision>
  <dcterms:created xsi:type="dcterms:W3CDTF">2026-04-15T19:44:59Z</dcterms:created>
  <dcterms:modified xsi:type="dcterms:W3CDTF">2026-04-15T19:44:59Z</dcterms:modified>
</cp:coreProperties>
</file>