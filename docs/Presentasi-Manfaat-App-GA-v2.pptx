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9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8DFD-A9EF-0E31-5A0A-EB492137F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E22CE-6042-83E3-2B52-634ECF2FA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43030-3C7E-FDEE-896F-D9965B5E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1F36-EF1D-0540-284B-F33500EF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BCCE-8669-D439-AFD7-822191AF1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577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8221-98E7-B2B7-01FF-15359AB0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55009-A6C9-D16E-3C00-CD75FDE4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27DD2-7D73-7F2E-4DEC-A20293EF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CFFD-9397-A145-D107-3788D1AE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C9BA1-5381-B2F4-D2B1-E0DE2D95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034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3AF2-98C8-4A5B-59D2-5FE3E4DB7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11998-54F8-9A09-DCA6-FD540E3FE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D15B5-03B0-3023-E356-9A4E3D1E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095AD-A38A-7956-3805-E0E55553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4456-025C-2025-3FEA-C68C1E9E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837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5B2C-9BF5-2FC5-A937-C7586CC5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AACE-F818-AA97-5319-677519F7F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8A147-03A1-3085-140A-C285DB073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48BEF-937D-E32B-1165-A170763A6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4F161-4004-7BA2-6B8C-35DACCB2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8D923-7D02-4E4E-2111-95A2A612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035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3CD5-F8B6-8A26-D906-C7B05116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9CA28-E291-C831-9A82-294646266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6C266-5DAB-696B-8988-1B489350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B44B0-2F9E-E544-86EC-A27CE45FD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46F9D-C2BB-70CF-09DB-EB59D95D9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CF057-D1D1-93C1-4CA8-1A731D59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CE952-06BE-78AA-8E7D-B77EF648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CA40C-2FCB-66F6-6D29-3502983D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308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A0E60-1F1A-9AAB-8E62-9B9E4E5A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0967B-A13E-7B8C-623C-127DE7F9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33CF1-B555-69E9-AAB2-E0B90BB5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F4170-34BD-62FF-F3A3-68ED79C9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522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70948-67CB-3F33-3109-52A0601E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0FF99-19E3-350A-2E02-FB6068EF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ACD02-CDBE-B4B7-36C8-D91D61D8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95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ED0D-254E-57FA-8810-E9DCA384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61D9-304A-D3F5-B06E-2329C832C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303E4-FDC0-F994-B43D-7F38AB23F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2B272-4B32-378A-3961-357917FA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C27C5-18B0-1761-83CD-DC192EF6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1694F-2895-D0E6-00E0-84C1F9CF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186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72E5-13DD-4DDA-136A-BED500BA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9DD5A-8DB8-66E0-2181-A215D7282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95BC4-08A5-6661-C319-9C385D759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C8EE8-3749-205E-7550-16274DB5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893FC-DFA4-E2F7-4C1B-47297C5B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4D0C4-45B8-2A4F-EA13-F13BE092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957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7267-D0A9-650B-270B-388B1554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000D3-A04E-0F2E-9F04-1C54031EA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19B53-0C5D-BEB9-4206-41FE7430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4053-DCD1-C447-65B3-CEC5EA41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BB30C-96B1-861E-F652-384EB688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152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89A96-BBB3-3E7C-A022-776B9A5C2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092CA-D9AB-A837-1D64-EE52D4393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E9254-AB13-03E8-3815-1D166E95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3DACF-9FD8-C73D-6C67-70F3F727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048C9-6CAB-6698-D5E8-3779C897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622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C994B-E963-A182-9F12-C9A09706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6496B-C8C7-D75E-B795-FF2AE259E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4BE6E-F059-5D3C-48AB-D207DD4B3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0E6DF-8453-499C-87D2-EB206E144512}" type="datetimeFigureOut">
              <a:rPr lang="en-ID" smtClean="0"/>
              <a:t>16/04/2026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85C19-760D-D025-FA78-CC3CF276C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40721-0E46-328C-80C1-17BB5C5AB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D36DB-3053-4BFE-AC9C-2684FA982BA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5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DEC6E1-5A18-D27C-1083-1ABF4DD2F989}"/>
              </a:ext>
            </a:extLst>
          </p:cNvPr>
          <p:cNvSpPr/>
          <p:nvPr/>
        </p:nvSpPr>
        <p:spPr>
          <a:xfrm>
            <a:off x="0" y="0"/>
            <a:ext cx="12192000" cy="25400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4F6A2-CD92-EE84-4D7D-B6FAAC9B60BD}"/>
              </a:ext>
            </a:extLst>
          </p:cNvPr>
          <p:cNvSpPr/>
          <p:nvPr/>
        </p:nvSpPr>
        <p:spPr>
          <a:xfrm>
            <a:off x="0" y="2540000"/>
            <a:ext cx="12192000" cy="431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90BB26-80FB-AAB3-F954-1E708D99554A}"/>
              </a:ext>
            </a:extLst>
          </p:cNvPr>
          <p:cNvSpPr/>
          <p:nvPr/>
        </p:nvSpPr>
        <p:spPr>
          <a:xfrm rot="1320000">
            <a:off x="8255000" y="-635000"/>
            <a:ext cx="3175000" cy="3175000"/>
          </a:xfrm>
          <a:prstGeom prst="ellipse">
            <a:avLst/>
          </a:prstGeom>
          <a:solidFill>
            <a:srgbClr val="7A4F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38247A-4CB5-1337-6193-59583A3CE0AD}"/>
              </a:ext>
            </a:extLst>
          </p:cNvPr>
          <p:cNvSpPr/>
          <p:nvPr/>
        </p:nvSpPr>
        <p:spPr>
          <a:xfrm>
            <a:off x="9144000" y="3175000"/>
            <a:ext cx="2413000" cy="2413000"/>
          </a:xfrm>
          <a:prstGeom prst="ellipse">
            <a:avLst/>
          </a:prstGeom>
          <a:solidFill>
            <a:srgbClr val="41A4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E022D-CF5D-7B23-0A48-C8FF1146A6AD}"/>
              </a:ext>
            </a:extLst>
          </p:cNvPr>
          <p:cNvSpPr txBox="1"/>
          <p:nvPr/>
        </p:nvSpPr>
        <p:spPr>
          <a:xfrm>
            <a:off x="711200" y="1092200"/>
            <a:ext cx="698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900" b="1">
                <a:solidFill>
                  <a:srgbClr val="FFFFFF"/>
                </a:solidFill>
                <a:latin typeface="Aptos Display" panose="020B0004020202020204" pitchFamily="34" charset="0"/>
              </a:rPr>
              <a:t>Transformasi Monitoring Layanan GA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50C23-464C-950E-0466-0D9F6D09B173}"/>
              </a:ext>
            </a:extLst>
          </p:cNvPr>
          <p:cNvSpPr txBox="1"/>
          <p:nvPr/>
        </p:nvSpPr>
        <p:spPr>
          <a:xfrm>
            <a:off x="736600" y="2730500"/>
            <a:ext cx="711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>
                <a:solidFill>
                  <a:srgbClr val="3F3122"/>
                </a:solidFill>
                <a:latin typeface="Aptos" panose="020B0004020202020204" pitchFamily="34" charset="0"/>
              </a:rPr>
              <a:t>SCM GA Complaint Management App untuk menutup lost report, memperkuat monitoring, dan membangun service excellence berbasis data.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BE6E43-A1E7-EAA0-9240-92B97318EA9D}"/>
              </a:ext>
            </a:extLst>
          </p:cNvPr>
          <p:cNvSpPr/>
          <p:nvPr/>
        </p:nvSpPr>
        <p:spPr>
          <a:xfrm>
            <a:off x="736600" y="4241800"/>
            <a:ext cx="266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CE2323-32CF-D4DE-49CF-9C4299DEC6BB}"/>
              </a:ext>
            </a:extLst>
          </p:cNvPr>
          <p:cNvSpPr/>
          <p:nvPr/>
        </p:nvSpPr>
        <p:spPr>
          <a:xfrm>
            <a:off x="3632200" y="4241800"/>
            <a:ext cx="266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8D5B7A-D0EA-59BB-C764-B523D3C59403}"/>
              </a:ext>
            </a:extLst>
          </p:cNvPr>
          <p:cNvSpPr/>
          <p:nvPr/>
        </p:nvSpPr>
        <p:spPr>
          <a:xfrm>
            <a:off x="6527800" y="4241800"/>
            <a:ext cx="266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D12373-F53D-B0A9-2E80-7FC808526FC4}"/>
              </a:ext>
            </a:extLst>
          </p:cNvPr>
          <p:cNvSpPr txBox="1"/>
          <p:nvPr/>
        </p:nvSpPr>
        <p:spPr>
          <a:xfrm>
            <a:off x="990600" y="4445000"/>
            <a:ext cx="215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i-FI" sz="1500" b="1">
                <a:solidFill>
                  <a:srgbClr val="3F3122"/>
                </a:solidFill>
                <a:latin typeface="Aptos" panose="020B0004020202020204" pitchFamily="34" charset="0"/>
              </a:rPr>
              <a:t>Satu pintu laporan
lebih tertib</a:t>
            </a:r>
            <a:endParaRPr lang="en-ID" sz="1500" b="1">
              <a:solidFill>
                <a:srgbClr val="3F3122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2540B5-3BA4-63B3-CBEF-6B54AC9777D7}"/>
              </a:ext>
            </a:extLst>
          </p:cNvPr>
          <p:cNvSpPr txBox="1"/>
          <p:nvPr/>
        </p:nvSpPr>
        <p:spPr>
          <a:xfrm>
            <a:off x="3886200" y="4445000"/>
            <a:ext cx="215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3F3122"/>
                </a:solidFill>
                <a:latin typeface="Aptos" panose="020B0004020202020204" pitchFamily="34" charset="0"/>
              </a:rPr>
              <a:t>Monitoring owner
lebih penuh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E228B-B5A1-0417-9C38-A8E6487BA500}"/>
              </a:ext>
            </a:extLst>
          </p:cNvPr>
          <p:cNvSpPr txBox="1"/>
          <p:nvPr/>
        </p:nvSpPr>
        <p:spPr>
          <a:xfrm>
            <a:off x="6781800" y="4445000"/>
            <a:ext cx="215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3F3122"/>
                </a:solidFill>
                <a:latin typeface="Aptos" panose="020B0004020202020204" pitchFamily="34" charset="0"/>
              </a:rPr>
              <a:t>Budaya feedback
dan reward</a:t>
            </a:r>
          </a:p>
        </p:txBody>
      </p:sp>
    </p:spTree>
    <p:extLst>
      <p:ext uri="{BB962C8B-B14F-4D97-AF65-F5344CB8AC3E}">
        <p14:creationId xmlns:p14="http://schemas.microsoft.com/office/powerpoint/2010/main" val="8874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1FE724-5BCC-CB88-7FD6-B45442788182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63B7A-02A4-7BBF-58F9-9659F75E22EA}"/>
              </a:ext>
            </a:extLst>
          </p:cNvPr>
          <p:cNvSpPr/>
          <p:nvPr/>
        </p:nvSpPr>
        <p:spPr>
          <a:xfrm>
            <a:off x="0" y="1168400"/>
            <a:ext cx="3302000" cy="76200"/>
          </a:xfrm>
          <a:prstGeom prst="rect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64780-CC59-83B1-0888-850335D3BBA8}"/>
              </a:ext>
            </a:extLst>
          </p:cNvPr>
          <p:cNvSpPr txBox="1"/>
          <p:nvPr/>
        </p:nvSpPr>
        <p:spPr>
          <a:xfrm>
            <a:off x="533400" y="228600"/>
            <a:ext cx="812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600" b="1">
                <a:solidFill>
                  <a:srgbClr val="FFFFFF"/>
                </a:solidFill>
                <a:latin typeface="Aptos Display" panose="020B0004020202020204" pitchFamily="34" charset="0"/>
              </a:rPr>
              <a:t>Masalah Saat Ini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80278-2E8E-D832-15FA-27825A5F7DBB}"/>
              </a:ext>
            </a:extLst>
          </p:cNvPr>
          <p:cNvSpPr txBox="1"/>
          <p:nvPr/>
        </p:nvSpPr>
        <p:spPr>
          <a:xfrm>
            <a:off x="558800" y="635000"/>
            <a:ext cx="889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F5E7D9"/>
                </a:solidFill>
                <a:latin typeface="Aptos" panose="020B0004020202020204" pitchFamily="34" charset="0"/>
              </a:rPr>
              <a:t>Kondisi operasional yang membuat kualitas service sulit dipantau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A89906-920F-456B-5CC3-266A6B91FE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77800"/>
            <a:ext cx="1498600" cy="1498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9442E5-2AE3-8DCF-8BFE-C01D17653390}"/>
              </a:ext>
            </a:extLst>
          </p:cNvPr>
          <p:cNvSpPr/>
          <p:nvPr/>
        </p:nvSpPr>
        <p:spPr>
          <a:xfrm>
            <a:off x="609600" y="1625600"/>
            <a:ext cx="4927600" cy="4318000"/>
          </a:xfrm>
          <a:prstGeom prst="roundRect">
            <a:avLst/>
          </a:prstGeom>
          <a:solidFill>
            <a:srgbClr val="FDFBF9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F051B3-033F-809F-97BA-841301D67476}"/>
              </a:ext>
            </a:extLst>
          </p:cNvPr>
          <p:cNvSpPr/>
          <p:nvPr/>
        </p:nvSpPr>
        <p:spPr>
          <a:xfrm>
            <a:off x="5867400" y="1625600"/>
            <a:ext cx="5689600" cy="4318000"/>
          </a:xfrm>
          <a:prstGeom prst="roundRect">
            <a:avLst/>
          </a:prstGeom>
          <a:solidFill>
            <a:srgbClr val="5D3617"/>
          </a:solidFill>
          <a:ln>
            <a:solidFill>
              <a:srgbClr val="5D3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9141A-50B5-4011-D4F7-03298043BBC4}"/>
              </a:ext>
            </a:extLst>
          </p:cNvPr>
          <p:cNvSpPr txBox="1"/>
          <p:nvPr/>
        </p:nvSpPr>
        <p:spPr>
          <a:xfrm>
            <a:off x="863600" y="1854200"/>
            <a:ext cx="381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000" b="1">
                <a:solidFill>
                  <a:srgbClr val="5D3617"/>
                </a:solidFill>
                <a:latin typeface="Aptos Display" panose="020B0004020202020204" pitchFamily="34" charset="0"/>
              </a:rPr>
              <a:t>Pain Point Lapangan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113E35-A43D-0B4E-1DA3-8494250AF77B}"/>
              </a:ext>
            </a:extLst>
          </p:cNvPr>
          <p:cNvSpPr txBox="1"/>
          <p:nvPr/>
        </p:nvSpPr>
        <p:spPr>
          <a:xfrm>
            <a:off x="863600" y="2362200"/>
            <a:ext cx="4191000" cy="25853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>
                <a:solidFill>
                  <a:srgbClr val="3F3122"/>
                </a:solidFill>
                <a:latin typeface="Aptos" panose="020B0004020202020204" pitchFamily="34" charset="0"/>
              </a:rPr>
              <a:t>â€¢ Banyak laporan masuk ke Aden tetapi respon belum termonitor.</a:t>
            </a:r>
          </a:p>
          <a:p>
            <a:r>
              <a:rPr lang="en-ID" sz="1800">
                <a:solidFill>
                  <a:srgbClr val="3F3122"/>
                </a:solidFill>
                <a:latin typeface="Aptos" panose="020B0004020202020204" pitchFamily="34" charset="0"/>
              </a:rPr>
              <a:t>â€¢ Sebagian laporan berpotensi hilang karena tersebar di chat/pesan personal.</a:t>
            </a:r>
          </a:p>
          <a:p>
            <a:r>
              <a:rPr lang="en-ID" sz="1800">
                <a:solidFill>
                  <a:srgbClr val="3F3122"/>
                </a:solidFill>
                <a:latin typeface="Aptos" panose="020B0004020202020204" pitchFamily="34" charset="0"/>
              </a:rPr>
              <a:t>â€¢ Owner belum punya satu dashboard untuk melihat status layanan.</a:t>
            </a:r>
          </a:p>
          <a:p>
            <a:r>
              <a:rPr lang="en-ID" sz="1800">
                <a:solidFill>
                  <a:srgbClr val="3F3122"/>
                </a:solidFill>
                <a:latin typeface="Aptos" panose="020B0004020202020204" pitchFamily="34" charset="0"/>
              </a:rPr>
              <a:t>â€¢ Sulit mengukur mana area bermasalah dan mana tim yang perlu support.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D648B6-3279-F919-513D-F083AEAF1357}"/>
              </a:ext>
            </a:extLst>
          </p:cNvPr>
          <p:cNvSpPr txBox="1"/>
          <p:nvPr/>
        </p:nvSpPr>
        <p:spPr>
          <a:xfrm>
            <a:off x="6248400" y="1879600"/>
            <a:ext cx="381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000" b="1">
                <a:solidFill>
                  <a:srgbClr val="FFFFFF"/>
                </a:solidFill>
                <a:latin typeface="Aptos Display" panose="020B0004020202020204" pitchFamily="34" charset="0"/>
              </a:rPr>
              <a:t>Akibat ke General Affairs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B6286B-AF1D-A599-3EF2-25D535084D2B}"/>
              </a:ext>
            </a:extLst>
          </p:cNvPr>
          <p:cNvSpPr/>
          <p:nvPr/>
        </p:nvSpPr>
        <p:spPr>
          <a:xfrm>
            <a:off x="6248400" y="2463800"/>
            <a:ext cx="4953000" cy="736600"/>
          </a:xfrm>
          <a:prstGeom prst="roundRect">
            <a:avLst/>
          </a:prstGeom>
          <a:solidFill>
            <a:srgbClr val="754A22"/>
          </a:solidFill>
          <a:ln>
            <a:solidFill>
              <a:srgbClr val="754A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1FD48-C625-DE16-F456-164D07E809CA}"/>
              </a:ext>
            </a:extLst>
          </p:cNvPr>
          <p:cNvSpPr txBox="1"/>
          <p:nvPr/>
        </p:nvSpPr>
        <p:spPr>
          <a:xfrm>
            <a:off x="6477000" y="2590800"/>
            <a:ext cx="152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600" b="1">
                <a:solidFill>
                  <a:srgbClr val="7AD7FF"/>
                </a:solidFill>
                <a:latin typeface="Aptos Display" panose="020B0004020202020204" pitchFamily="34" charset="0"/>
              </a:rPr>
              <a:t>Lost report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C154E-50AA-344B-3D00-FB8C014DFC50}"/>
              </a:ext>
            </a:extLst>
          </p:cNvPr>
          <p:cNvSpPr txBox="1"/>
          <p:nvPr/>
        </p:nvSpPr>
        <p:spPr>
          <a:xfrm>
            <a:off x="7874000" y="2565400"/>
            <a:ext cx="304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1200">
                <a:solidFill>
                  <a:srgbClr val="FFFFFF"/>
                </a:solidFill>
                <a:latin typeface="Aptos" panose="020B0004020202020204" pitchFamily="34" charset="0"/>
              </a:rPr>
              <a:t>Keluhan bisa tidak tertindaklanjuti dan menurunkan kepercayaan user.</a:t>
            </a:r>
            <a:endParaRPr lang="en-ID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D1E06F-FFD4-F5EA-F77B-8DF08D7BBB45}"/>
              </a:ext>
            </a:extLst>
          </p:cNvPr>
          <p:cNvSpPr/>
          <p:nvPr/>
        </p:nvSpPr>
        <p:spPr>
          <a:xfrm>
            <a:off x="6248400" y="3403600"/>
            <a:ext cx="4953000" cy="736600"/>
          </a:xfrm>
          <a:prstGeom prst="roundRect">
            <a:avLst/>
          </a:prstGeom>
          <a:solidFill>
            <a:srgbClr val="754A22"/>
          </a:solidFill>
          <a:ln>
            <a:solidFill>
              <a:srgbClr val="754A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0EFB9-7694-79E7-F9DA-F65502BDF711}"/>
              </a:ext>
            </a:extLst>
          </p:cNvPr>
          <p:cNvSpPr txBox="1"/>
          <p:nvPr/>
        </p:nvSpPr>
        <p:spPr>
          <a:xfrm>
            <a:off x="6477000" y="3530600"/>
            <a:ext cx="152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600" b="1">
                <a:solidFill>
                  <a:srgbClr val="7AD7FF"/>
                </a:solidFill>
                <a:latin typeface="Aptos Display" panose="020B0004020202020204" pitchFamily="34" charset="0"/>
              </a:rPr>
              <a:t>No monitoring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B2C2D-C38C-3532-EC43-A71D3834C6BC}"/>
              </a:ext>
            </a:extLst>
          </p:cNvPr>
          <p:cNvSpPr txBox="1"/>
          <p:nvPr/>
        </p:nvSpPr>
        <p:spPr>
          <a:xfrm>
            <a:off x="7874000" y="3505200"/>
            <a:ext cx="304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200">
                <a:solidFill>
                  <a:srgbClr val="FFFFFF"/>
                </a:solidFill>
                <a:latin typeface="Aptos" panose="020B0004020202020204" pitchFamily="34" charset="0"/>
              </a:rPr>
              <a:t>Management sulit melihat progress, backlog, dan overdue.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227B8F-FA64-DA0E-DF8B-B5838D431BEB}"/>
              </a:ext>
            </a:extLst>
          </p:cNvPr>
          <p:cNvSpPr/>
          <p:nvPr/>
        </p:nvSpPr>
        <p:spPr>
          <a:xfrm>
            <a:off x="6248400" y="4343400"/>
            <a:ext cx="4953000" cy="736600"/>
          </a:xfrm>
          <a:prstGeom prst="roundRect">
            <a:avLst/>
          </a:prstGeom>
          <a:solidFill>
            <a:srgbClr val="754A22"/>
          </a:solidFill>
          <a:ln>
            <a:solidFill>
              <a:srgbClr val="754A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439529-6EBB-C9D8-6C4A-7519A6751E38}"/>
              </a:ext>
            </a:extLst>
          </p:cNvPr>
          <p:cNvSpPr txBox="1"/>
          <p:nvPr/>
        </p:nvSpPr>
        <p:spPr>
          <a:xfrm>
            <a:off x="6477000" y="4470400"/>
            <a:ext cx="152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600" b="1">
                <a:solidFill>
                  <a:srgbClr val="7AD7FF"/>
                </a:solidFill>
                <a:latin typeface="Aptos Display" panose="020B0004020202020204" pitchFamily="34" charset="0"/>
              </a:rPr>
              <a:t>No evidence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D94673-17AA-8393-D829-CD2BCF0A68F4}"/>
              </a:ext>
            </a:extLst>
          </p:cNvPr>
          <p:cNvSpPr txBox="1"/>
          <p:nvPr/>
        </p:nvSpPr>
        <p:spPr>
          <a:xfrm>
            <a:off x="7874000" y="4445000"/>
            <a:ext cx="304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1200">
                <a:solidFill>
                  <a:srgbClr val="FFFFFF"/>
                </a:solidFill>
                <a:latin typeface="Aptos" panose="020B0004020202020204" pitchFamily="34" charset="0"/>
              </a:rPr>
              <a:t>Kinerja service sulit dibuktikan karena datanya tidak utuh.</a:t>
            </a:r>
            <a:endParaRPr lang="en-ID" sz="12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61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564A6F-8D5A-6102-34F2-A7D9E18C0CF1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35682-0B53-611D-BC02-F4296319569B}"/>
              </a:ext>
            </a:extLst>
          </p:cNvPr>
          <p:cNvSpPr/>
          <p:nvPr/>
        </p:nvSpPr>
        <p:spPr>
          <a:xfrm>
            <a:off x="0" y="1168400"/>
            <a:ext cx="3302000" cy="76200"/>
          </a:xfrm>
          <a:prstGeom prst="rect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DE7CB-8095-E6E4-7FB6-8C6237752F66}"/>
              </a:ext>
            </a:extLst>
          </p:cNvPr>
          <p:cNvSpPr txBox="1"/>
          <p:nvPr/>
        </p:nvSpPr>
        <p:spPr>
          <a:xfrm>
            <a:off x="533400" y="228600"/>
            <a:ext cx="812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600" b="1">
                <a:solidFill>
                  <a:srgbClr val="FFFFFF"/>
                </a:solidFill>
                <a:latin typeface="Aptos Display" panose="020B0004020202020204" pitchFamily="34" charset="0"/>
              </a:rPr>
              <a:t>Fishbone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AF917-8FE8-C84E-C1A2-FF7B3A5E2B21}"/>
              </a:ext>
            </a:extLst>
          </p:cNvPr>
          <p:cNvSpPr txBox="1"/>
          <p:nvPr/>
        </p:nvSpPr>
        <p:spPr>
          <a:xfrm>
            <a:off x="558800" y="635000"/>
            <a:ext cx="889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F5E7D9"/>
                </a:solidFill>
                <a:latin typeface="Aptos" panose="020B0004020202020204" pitchFamily="34" charset="0"/>
              </a:rPr>
              <a:t>Akar masalah mengapa laporan service sering tidak terkontrol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F940EE-6623-ACF6-A995-02BB281A59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77800"/>
            <a:ext cx="1498600" cy="1498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D31167-3F6A-1389-CA79-B458558325FE}"/>
              </a:ext>
            </a:extLst>
          </p:cNvPr>
          <p:cNvSpPr/>
          <p:nvPr/>
        </p:nvSpPr>
        <p:spPr>
          <a:xfrm>
            <a:off x="9652000" y="2857500"/>
            <a:ext cx="1905000" cy="939800"/>
          </a:xfrm>
          <a:prstGeom prst="roundRect">
            <a:avLst/>
          </a:prstGeom>
          <a:solidFill>
            <a:srgbClr val="4F53D9"/>
          </a:solidFill>
          <a:ln>
            <a:solidFill>
              <a:srgbClr val="4F5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7B0FD-FA4B-F8F2-D4D7-CB42D4348E12}"/>
              </a:ext>
            </a:extLst>
          </p:cNvPr>
          <p:cNvSpPr txBox="1"/>
          <p:nvPr/>
        </p:nvSpPr>
        <p:spPr>
          <a:xfrm>
            <a:off x="9855200" y="3073400"/>
            <a:ext cx="14986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600" b="1">
                <a:solidFill>
                  <a:srgbClr val="FFFFFF"/>
                </a:solidFill>
                <a:latin typeface="Aptos Display" panose="020B0004020202020204" pitchFamily="34" charset="0"/>
              </a:rPr>
              <a:t>Lost Report &amp;
No Monitoring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C3671C-2483-A3C2-256D-B1613005F338}"/>
              </a:ext>
            </a:extLst>
          </p:cNvPr>
          <p:cNvCxnSpPr/>
          <p:nvPr/>
        </p:nvCxnSpPr>
        <p:spPr>
          <a:xfrm>
            <a:off x="2413000" y="3327400"/>
            <a:ext cx="7239000" cy="0"/>
          </a:xfrm>
          <a:prstGeom prst="line">
            <a:avLst/>
          </a:prstGeom>
          <a:ln w="3175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3C7698-E978-3E55-B840-FB5EB96534A3}"/>
              </a:ext>
            </a:extLst>
          </p:cNvPr>
          <p:cNvCxnSpPr/>
          <p:nvPr/>
        </p:nvCxnSpPr>
        <p:spPr>
          <a:xfrm flipH="1" flipV="1">
            <a:off x="2667000" y="2286000"/>
            <a:ext cx="762000" cy="1041400"/>
          </a:xfrm>
          <a:prstGeom prst="line">
            <a:avLst/>
          </a:prstGeom>
          <a:ln w="2540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4D7A99-D9A9-BF11-50D6-E75650A192D3}"/>
              </a:ext>
            </a:extLst>
          </p:cNvPr>
          <p:cNvSpPr/>
          <p:nvPr/>
        </p:nvSpPr>
        <p:spPr>
          <a:xfrm>
            <a:off x="2006600" y="1295400"/>
            <a:ext cx="2222500" cy="9398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B4135-CD6A-48B7-5E4B-10DBCF76C943}"/>
              </a:ext>
            </a:extLst>
          </p:cNvPr>
          <p:cNvSpPr txBox="1"/>
          <p:nvPr/>
        </p:nvSpPr>
        <p:spPr>
          <a:xfrm>
            <a:off x="2184400" y="1397000"/>
            <a:ext cx="1778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400" b="1">
                <a:solidFill>
                  <a:srgbClr val="7C8C1C"/>
                </a:solidFill>
                <a:latin typeface="Aptos Display" panose="020B0004020202020204" pitchFamily="34" charset="0"/>
              </a:rPr>
              <a:t>People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28C90-D0E8-10D5-D489-69326FA85187}"/>
              </a:ext>
            </a:extLst>
          </p:cNvPr>
          <p:cNvSpPr txBox="1"/>
          <p:nvPr/>
        </p:nvSpPr>
        <p:spPr>
          <a:xfrm>
            <a:off x="2184400" y="1625600"/>
            <a:ext cx="18288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3F3122"/>
                </a:solidFill>
                <a:latin typeface="Aptos" panose="020B0004020202020204" pitchFamily="34" charset="0"/>
              </a:rPr>
              <a:t>Laporan bergantung pada orang tertentu, follow-up tidak seragam.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C612E-18F2-4169-7F44-FF6B563E9FF9}"/>
              </a:ext>
            </a:extLst>
          </p:cNvPr>
          <p:cNvCxnSpPr/>
          <p:nvPr/>
        </p:nvCxnSpPr>
        <p:spPr>
          <a:xfrm flipH="1" flipV="1">
            <a:off x="4572000" y="2286000"/>
            <a:ext cx="762000" cy="1041400"/>
          </a:xfrm>
          <a:prstGeom prst="line">
            <a:avLst/>
          </a:prstGeom>
          <a:ln w="2540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CA2DAB-93B1-BAB9-EDBF-687A707C8277}"/>
              </a:ext>
            </a:extLst>
          </p:cNvPr>
          <p:cNvSpPr/>
          <p:nvPr/>
        </p:nvSpPr>
        <p:spPr>
          <a:xfrm>
            <a:off x="3911600" y="1295400"/>
            <a:ext cx="2222500" cy="9398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905CF-2AF6-F24A-54D0-9A97C27B4A2C}"/>
              </a:ext>
            </a:extLst>
          </p:cNvPr>
          <p:cNvSpPr txBox="1"/>
          <p:nvPr/>
        </p:nvSpPr>
        <p:spPr>
          <a:xfrm>
            <a:off x="4089400" y="1397000"/>
            <a:ext cx="1778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400" b="1">
                <a:solidFill>
                  <a:srgbClr val="7C8C1C"/>
                </a:solidFill>
                <a:latin typeface="Aptos Display" panose="020B0004020202020204" pitchFamily="34" charset="0"/>
              </a:rPr>
              <a:t>Process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7C01A-9F3F-B1DB-D1B0-6BA2C84C8A3A}"/>
              </a:ext>
            </a:extLst>
          </p:cNvPr>
          <p:cNvSpPr txBox="1"/>
          <p:nvPr/>
        </p:nvSpPr>
        <p:spPr>
          <a:xfrm>
            <a:off x="4089400" y="1625600"/>
            <a:ext cx="18288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3F3122"/>
                </a:solidFill>
                <a:latin typeface="Aptos" panose="020B0004020202020204" pitchFamily="34" charset="0"/>
              </a:rPr>
              <a:t>Belum ada alur tiket, status, dan ownership yang jelas.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C6A38F-B068-8ABB-114C-BA0ED819247C}"/>
              </a:ext>
            </a:extLst>
          </p:cNvPr>
          <p:cNvCxnSpPr/>
          <p:nvPr/>
        </p:nvCxnSpPr>
        <p:spPr>
          <a:xfrm flipH="1" flipV="1">
            <a:off x="6477000" y="2286000"/>
            <a:ext cx="762000" cy="1041400"/>
          </a:xfrm>
          <a:prstGeom prst="line">
            <a:avLst/>
          </a:prstGeom>
          <a:ln w="2540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F0E54A-666F-B349-7AFA-AE017967DCBB}"/>
              </a:ext>
            </a:extLst>
          </p:cNvPr>
          <p:cNvSpPr/>
          <p:nvPr/>
        </p:nvSpPr>
        <p:spPr>
          <a:xfrm>
            <a:off x="5816600" y="1295400"/>
            <a:ext cx="2222500" cy="9398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52CFD4-FD11-A60D-6797-179F473D2F2B}"/>
              </a:ext>
            </a:extLst>
          </p:cNvPr>
          <p:cNvSpPr txBox="1"/>
          <p:nvPr/>
        </p:nvSpPr>
        <p:spPr>
          <a:xfrm>
            <a:off x="5994400" y="1397000"/>
            <a:ext cx="1778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400" b="1">
                <a:solidFill>
                  <a:srgbClr val="7C8C1C"/>
                </a:solidFill>
                <a:latin typeface="Aptos Display" panose="020B0004020202020204" pitchFamily="34" charset="0"/>
              </a:rPr>
              <a:t>Tools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0384FF-874C-6A61-C063-2C3A53F8EB32}"/>
              </a:ext>
            </a:extLst>
          </p:cNvPr>
          <p:cNvSpPr txBox="1"/>
          <p:nvPr/>
        </p:nvSpPr>
        <p:spPr>
          <a:xfrm>
            <a:off x="5994400" y="1625600"/>
            <a:ext cx="18288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3F3122"/>
                </a:solidFill>
                <a:latin typeface="Aptos" panose="020B0004020202020204" pitchFamily="34" charset="0"/>
              </a:rPr>
              <a:t>Masih memakai chat/pesan yang sulit ditelusuri ulang.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475842-ABCF-A080-34D8-E68C10543866}"/>
              </a:ext>
            </a:extLst>
          </p:cNvPr>
          <p:cNvCxnSpPr/>
          <p:nvPr/>
        </p:nvCxnSpPr>
        <p:spPr>
          <a:xfrm flipH="1">
            <a:off x="3429000" y="3327400"/>
            <a:ext cx="762000" cy="1041400"/>
          </a:xfrm>
          <a:prstGeom prst="line">
            <a:avLst/>
          </a:prstGeom>
          <a:ln w="2540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214DC8-C7B6-58AD-1444-D88CE571D381}"/>
              </a:ext>
            </a:extLst>
          </p:cNvPr>
          <p:cNvSpPr/>
          <p:nvPr/>
        </p:nvSpPr>
        <p:spPr>
          <a:xfrm>
            <a:off x="2768600" y="4495800"/>
            <a:ext cx="2222500" cy="9398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C5E586-5A72-F483-AB59-59EBAF159997}"/>
              </a:ext>
            </a:extLst>
          </p:cNvPr>
          <p:cNvSpPr txBox="1"/>
          <p:nvPr/>
        </p:nvSpPr>
        <p:spPr>
          <a:xfrm>
            <a:off x="2946400" y="4597400"/>
            <a:ext cx="1778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400" b="1">
                <a:solidFill>
                  <a:srgbClr val="7C8C1C"/>
                </a:solidFill>
                <a:latin typeface="Aptos Display" panose="020B0004020202020204" pitchFamily="34" charset="0"/>
              </a:rPr>
              <a:t>Control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C1FCA2-EDD5-F904-EAA7-F62C28AD8BAF}"/>
              </a:ext>
            </a:extLst>
          </p:cNvPr>
          <p:cNvSpPr txBox="1"/>
          <p:nvPr/>
        </p:nvSpPr>
        <p:spPr>
          <a:xfrm>
            <a:off x="2946400" y="4826000"/>
            <a:ext cx="18288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3F3122"/>
                </a:solidFill>
                <a:latin typeface="Aptos" panose="020B0004020202020204" pitchFamily="34" charset="0"/>
              </a:rPr>
              <a:t>Owner tidak punya dashboard untuk melihat backlog dan overdue.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AC25A3-7AFE-0248-E082-2B431908A8B0}"/>
              </a:ext>
            </a:extLst>
          </p:cNvPr>
          <p:cNvCxnSpPr/>
          <p:nvPr/>
        </p:nvCxnSpPr>
        <p:spPr>
          <a:xfrm flipH="1">
            <a:off x="5588000" y="3327400"/>
            <a:ext cx="762000" cy="1041400"/>
          </a:xfrm>
          <a:prstGeom prst="line">
            <a:avLst/>
          </a:prstGeom>
          <a:ln w="2540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6F31C2-5042-7D0F-FAD8-C5FC12D233EA}"/>
              </a:ext>
            </a:extLst>
          </p:cNvPr>
          <p:cNvSpPr/>
          <p:nvPr/>
        </p:nvSpPr>
        <p:spPr>
          <a:xfrm>
            <a:off x="4927600" y="4495800"/>
            <a:ext cx="2222500" cy="9398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94B467-AE97-52D1-BA0D-04DFFD008444}"/>
              </a:ext>
            </a:extLst>
          </p:cNvPr>
          <p:cNvSpPr txBox="1"/>
          <p:nvPr/>
        </p:nvSpPr>
        <p:spPr>
          <a:xfrm>
            <a:off x="5105400" y="4597400"/>
            <a:ext cx="1778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400" b="1">
                <a:solidFill>
                  <a:srgbClr val="7C8C1C"/>
                </a:solidFill>
                <a:latin typeface="Aptos Display" panose="020B0004020202020204" pitchFamily="34" charset="0"/>
              </a:rPr>
              <a:t>Data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D64637-CFE2-FBC1-8752-D9562D9351AB}"/>
              </a:ext>
            </a:extLst>
          </p:cNvPr>
          <p:cNvSpPr txBox="1"/>
          <p:nvPr/>
        </p:nvSpPr>
        <p:spPr>
          <a:xfrm>
            <a:off x="5105400" y="4826000"/>
            <a:ext cx="18288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n-NO" sz="1000">
                <a:solidFill>
                  <a:srgbClr val="3F3122"/>
                </a:solidFill>
                <a:latin typeface="Aptos" panose="020B0004020202020204" pitchFamily="34" charset="0"/>
              </a:rPr>
              <a:t>Tidak ada histori yang rapi untuk evaluasi dan reward.</a:t>
            </a:r>
            <a:endParaRPr lang="en-ID" sz="1000">
              <a:solidFill>
                <a:srgbClr val="3F3122"/>
              </a:solidFill>
              <a:latin typeface="Aptos" panose="020B00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4BACF0-CE68-B18E-BF5A-A0EAB4C55F7D}"/>
              </a:ext>
            </a:extLst>
          </p:cNvPr>
          <p:cNvCxnSpPr/>
          <p:nvPr/>
        </p:nvCxnSpPr>
        <p:spPr>
          <a:xfrm flipH="1">
            <a:off x="7493000" y="3327400"/>
            <a:ext cx="762000" cy="1041400"/>
          </a:xfrm>
          <a:prstGeom prst="line">
            <a:avLst/>
          </a:prstGeom>
          <a:ln w="25400">
            <a:solidFill>
              <a:srgbClr val="5D36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F03F714-3037-809B-B330-D017B9944354}"/>
              </a:ext>
            </a:extLst>
          </p:cNvPr>
          <p:cNvSpPr/>
          <p:nvPr/>
        </p:nvSpPr>
        <p:spPr>
          <a:xfrm>
            <a:off x="6832600" y="4495800"/>
            <a:ext cx="2222500" cy="9398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5EF52D-4CE6-74DF-0736-30C89C0A308C}"/>
              </a:ext>
            </a:extLst>
          </p:cNvPr>
          <p:cNvSpPr txBox="1"/>
          <p:nvPr/>
        </p:nvSpPr>
        <p:spPr>
          <a:xfrm>
            <a:off x="7010400" y="4597400"/>
            <a:ext cx="1778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400" b="1">
                <a:solidFill>
                  <a:srgbClr val="7C8C1C"/>
                </a:solidFill>
                <a:latin typeface="Aptos Display" panose="020B0004020202020204" pitchFamily="34" charset="0"/>
              </a:rPr>
              <a:t>Culture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F71E96-87A9-A840-66FD-6F38DF6917BB}"/>
              </a:ext>
            </a:extLst>
          </p:cNvPr>
          <p:cNvSpPr txBox="1"/>
          <p:nvPr/>
        </p:nvSpPr>
        <p:spPr>
          <a:xfrm>
            <a:off x="7010400" y="4826000"/>
            <a:ext cx="18288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3F3122"/>
                </a:solidFill>
                <a:latin typeface="Aptos" panose="020B0004020202020204" pitchFamily="34" charset="0"/>
              </a:rPr>
              <a:t>Belum terbentuk kebiasaan feedback dan pelaporan partisipatif.</a:t>
            </a:r>
          </a:p>
        </p:txBody>
      </p:sp>
    </p:spTree>
    <p:extLst>
      <p:ext uri="{BB962C8B-B14F-4D97-AF65-F5344CB8AC3E}">
        <p14:creationId xmlns:p14="http://schemas.microsoft.com/office/powerpoint/2010/main" val="428168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18344-315B-8477-5CBC-7BB122FF63EF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C740CC-3758-A9F2-1643-6BF27C5FB72D}"/>
              </a:ext>
            </a:extLst>
          </p:cNvPr>
          <p:cNvSpPr/>
          <p:nvPr/>
        </p:nvSpPr>
        <p:spPr>
          <a:xfrm>
            <a:off x="0" y="1168400"/>
            <a:ext cx="3302000" cy="76200"/>
          </a:xfrm>
          <a:prstGeom prst="rect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3B963-3F3E-341A-8AEB-427AFA7B839B}"/>
              </a:ext>
            </a:extLst>
          </p:cNvPr>
          <p:cNvSpPr txBox="1"/>
          <p:nvPr/>
        </p:nvSpPr>
        <p:spPr>
          <a:xfrm>
            <a:off x="533400" y="228600"/>
            <a:ext cx="812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600" b="1">
                <a:solidFill>
                  <a:srgbClr val="FFFFFF"/>
                </a:solidFill>
                <a:latin typeface="Aptos Display" panose="020B0004020202020204" pitchFamily="34" charset="0"/>
              </a:rPr>
              <a:t>Dua Tahap Implementasi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C2921-3A72-F8B8-3B7F-79EA3BECC08D}"/>
              </a:ext>
            </a:extLst>
          </p:cNvPr>
          <p:cNvSpPr txBox="1"/>
          <p:nvPr/>
        </p:nvSpPr>
        <p:spPr>
          <a:xfrm>
            <a:off x="558800" y="635000"/>
            <a:ext cx="889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F5E7D9"/>
                </a:solidFill>
                <a:latin typeface="Aptos" panose="020B0004020202020204" pitchFamily="34" charset="0"/>
              </a:rPr>
              <a:t>Membangun disiplin pelaporan lalu monitoring penuh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AA387-C461-1D33-3A40-44BBC2CFB1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77800"/>
            <a:ext cx="1498600" cy="1498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5B695A-5EF4-2EC3-14B1-58118E8710F2}"/>
              </a:ext>
            </a:extLst>
          </p:cNvPr>
          <p:cNvSpPr/>
          <p:nvPr/>
        </p:nvSpPr>
        <p:spPr>
          <a:xfrm>
            <a:off x="698500" y="1727200"/>
            <a:ext cx="4927600" cy="3937000"/>
          </a:xfrm>
          <a:prstGeom prst="roundRect">
            <a:avLst/>
          </a:prstGeom>
          <a:solidFill>
            <a:srgbClr val="FFFBF8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A16D96-7B7D-CF34-F8B0-A7083DFCBAAF}"/>
              </a:ext>
            </a:extLst>
          </p:cNvPr>
          <p:cNvSpPr/>
          <p:nvPr/>
        </p:nvSpPr>
        <p:spPr>
          <a:xfrm>
            <a:off x="6007100" y="1727200"/>
            <a:ext cx="4927600" cy="3937000"/>
          </a:xfrm>
          <a:prstGeom prst="roundRect">
            <a:avLst/>
          </a:prstGeom>
          <a:solidFill>
            <a:srgbClr val="F1F9FD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579E7C-415E-8FAC-7D76-3DE7F1F4E0BA}"/>
              </a:ext>
            </a:extLst>
          </p:cNvPr>
          <p:cNvSpPr/>
          <p:nvPr/>
        </p:nvSpPr>
        <p:spPr>
          <a:xfrm>
            <a:off x="914400" y="1524000"/>
            <a:ext cx="584200" cy="584200"/>
          </a:xfrm>
          <a:prstGeom prst="ellipse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FEE3D8-3BA4-BDD0-0F67-8FA9EAACBD88}"/>
              </a:ext>
            </a:extLst>
          </p:cNvPr>
          <p:cNvSpPr txBox="1"/>
          <p:nvPr/>
        </p:nvSpPr>
        <p:spPr>
          <a:xfrm>
            <a:off x="1066800" y="1663700"/>
            <a:ext cx="304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964D80-F91D-5447-92F8-BDF538743254}"/>
              </a:ext>
            </a:extLst>
          </p:cNvPr>
          <p:cNvSpPr/>
          <p:nvPr/>
        </p:nvSpPr>
        <p:spPr>
          <a:xfrm>
            <a:off x="6223000" y="1524000"/>
            <a:ext cx="584200" cy="584200"/>
          </a:xfrm>
          <a:prstGeom prst="ellipse">
            <a:avLst/>
          </a:prstGeom>
          <a:solidFill>
            <a:srgbClr val="41A4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5E79D-DBA6-CADB-50EA-A7466C19CC09}"/>
              </a:ext>
            </a:extLst>
          </p:cNvPr>
          <p:cNvSpPr txBox="1"/>
          <p:nvPr/>
        </p:nvSpPr>
        <p:spPr>
          <a:xfrm>
            <a:off x="6375400" y="1663700"/>
            <a:ext cx="3048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637EF-64E9-96D8-9283-355EC5664C59}"/>
              </a:ext>
            </a:extLst>
          </p:cNvPr>
          <p:cNvSpPr txBox="1"/>
          <p:nvPr/>
        </p:nvSpPr>
        <p:spPr>
          <a:xfrm>
            <a:off x="1651000" y="1803400"/>
            <a:ext cx="330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000" b="1">
                <a:solidFill>
                  <a:srgbClr val="5D3617"/>
                </a:solidFill>
                <a:latin typeface="Aptos Display" panose="020B0004020202020204" pitchFamily="34" charset="0"/>
              </a:rPr>
              <a:t>Proses Aplikasi untuk User Melapor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3CBEF-690F-FAD0-189F-227EAE099B4A}"/>
              </a:ext>
            </a:extLst>
          </p:cNvPr>
          <p:cNvSpPr txBox="1"/>
          <p:nvPr/>
        </p:nvSpPr>
        <p:spPr>
          <a:xfrm>
            <a:off x="965200" y="2387600"/>
            <a:ext cx="4064000" cy="24468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User melapor dari HP/desktop.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Pilih tipe layanan, lokasi, deskripsi, dan foto.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Sistem membuat nomor tiket otomatis.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Laporan lebih rapi dan tidak mudah hilang.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User bisa tracking status secara jelas.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BEE434-73B4-8F82-7E09-053F361E709B}"/>
              </a:ext>
            </a:extLst>
          </p:cNvPr>
          <p:cNvSpPr txBox="1"/>
          <p:nvPr/>
        </p:nvSpPr>
        <p:spPr>
          <a:xfrm>
            <a:off x="6959600" y="1803400"/>
            <a:ext cx="330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solidFill>
                  <a:srgbClr val="5D3617"/>
                </a:solidFill>
                <a:latin typeface="Aptos Display" panose="020B0004020202020204" pitchFamily="34" charset="0"/>
              </a:rPr>
              <a:t>Dashboard 4 Sub User + Owner</a:t>
            </a:r>
            <a:endParaRPr lang="en-ID" sz="2000" b="1">
              <a:solidFill>
                <a:srgbClr val="5D3617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48FF2-3CD8-30C8-5CFE-CCC81BE300C4}"/>
              </a:ext>
            </a:extLst>
          </p:cNvPr>
          <p:cNvSpPr txBox="1"/>
          <p:nvPr/>
        </p:nvSpPr>
        <p:spPr>
          <a:xfrm>
            <a:off x="6273800" y="2387600"/>
            <a:ext cx="4064000" cy="21852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Superadmin, Receptionist, HK, dan Laundry.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Owner memantau semua status secara penuh.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Ada view open, progress, closed, rejected, dan overdue.</a:t>
            </a:r>
          </a:p>
          <a:p>
            <a:r>
              <a:rPr lang="en-ID" sz="1700">
                <a:solidFill>
                  <a:srgbClr val="3F3122"/>
                </a:solidFill>
                <a:latin typeface="Aptos" panose="020B0004020202020204" pitchFamily="34" charset="0"/>
              </a:rPr>
              <a:t>â€¢ Management dapat melihat performa per tipe layanan dan tren laporan.</a:t>
            </a:r>
          </a:p>
        </p:txBody>
      </p:sp>
    </p:spTree>
    <p:extLst>
      <p:ext uri="{BB962C8B-B14F-4D97-AF65-F5344CB8AC3E}">
        <p14:creationId xmlns:p14="http://schemas.microsoft.com/office/powerpoint/2010/main" val="1126922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3B348C-0054-92ED-B289-CBA74317B699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5D535-E6F3-491B-6810-75A6FC3D2864}"/>
              </a:ext>
            </a:extLst>
          </p:cNvPr>
          <p:cNvSpPr/>
          <p:nvPr/>
        </p:nvSpPr>
        <p:spPr>
          <a:xfrm>
            <a:off x="0" y="1168400"/>
            <a:ext cx="3302000" cy="76200"/>
          </a:xfrm>
          <a:prstGeom prst="rect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F37BE-576B-956D-263B-36C02DD6DAAB}"/>
              </a:ext>
            </a:extLst>
          </p:cNvPr>
          <p:cNvSpPr txBox="1"/>
          <p:nvPr/>
        </p:nvSpPr>
        <p:spPr>
          <a:xfrm>
            <a:off x="533400" y="228600"/>
            <a:ext cx="812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600" b="1">
                <a:solidFill>
                  <a:srgbClr val="FFFFFF"/>
                </a:solidFill>
                <a:latin typeface="Aptos Display" panose="020B0004020202020204" pitchFamily="34" charset="0"/>
              </a:rPr>
              <a:t>Top Pelapor Menjadi Agen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4F445-51BC-1948-0FA4-7DB8A8A51A74}"/>
              </a:ext>
            </a:extLst>
          </p:cNvPr>
          <p:cNvSpPr txBox="1"/>
          <p:nvPr/>
        </p:nvSpPr>
        <p:spPr>
          <a:xfrm>
            <a:off x="558800" y="635000"/>
            <a:ext cx="889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F5E7D9"/>
                </a:solidFill>
                <a:latin typeface="Aptos" panose="020B0004020202020204" pitchFamily="34" charset="0"/>
              </a:rPr>
              <a:t>Budaya pelaporan aktif mendorong perbaikan layanan lebih cepat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47C35-8FD9-5044-83DE-6314428A27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77800"/>
            <a:ext cx="1498600" cy="1498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B1EC96-EB9F-3AA5-8E5A-5A0C9FAED1CB}"/>
              </a:ext>
            </a:extLst>
          </p:cNvPr>
          <p:cNvSpPr/>
          <p:nvPr/>
        </p:nvSpPr>
        <p:spPr>
          <a:xfrm>
            <a:off x="3835400" y="2159000"/>
            <a:ext cx="44450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7BA8A-D985-28E7-337A-C135E312729A}"/>
              </a:ext>
            </a:extLst>
          </p:cNvPr>
          <p:cNvSpPr txBox="1"/>
          <p:nvPr/>
        </p:nvSpPr>
        <p:spPr>
          <a:xfrm>
            <a:off x="4318000" y="2438400"/>
            <a:ext cx="3556000" cy="7386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100" b="1">
                <a:solidFill>
                  <a:srgbClr val="7C8C1C"/>
                </a:solidFill>
                <a:latin typeface="Aptos Display" panose="020B0004020202020204" pitchFamily="34" charset="0"/>
              </a:rPr>
              <a:t>Top Pelapor = Partisipasi Positif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D64AE-5E20-0F2E-9ACC-46722AC1E8FC}"/>
              </a:ext>
            </a:extLst>
          </p:cNvPr>
          <p:cNvSpPr txBox="1"/>
          <p:nvPr/>
        </p:nvSpPr>
        <p:spPr>
          <a:xfrm>
            <a:off x="4165600" y="2857500"/>
            <a:ext cx="3810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>
                <a:solidFill>
                  <a:srgbClr val="3F3122"/>
                </a:solidFill>
                <a:latin typeface="Aptos" panose="020B0004020202020204" pitchFamily="34" charset="0"/>
              </a:rPr>
              <a:t>Semua orang bisa ikut menjaga kualitas area kerja dengan melaporkan masalah service secara cepat dan terstruktur.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5A7F8B-9B8D-8624-9C2B-D1AE78FA635E}"/>
              </a:ext>
            </a:extLst>
          </p:cNvPr>
          <p:cNvSpPr/>
          <p:nvPr/>
        </p:nvSpPr>
        <p:spPr>
          <a:xfrm>
            <a:off x="990600" y="1828800"/>
            <a:ext cx="2603500" cy="1219200"/>
          </a:xfrm>
          <a:prstGeom prst="roundRect">
            <a:avLst/>
          </a:prstGeom>
          <a:solidFill>
            <a:srgbClr val="F3F6EA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78289-08D5-DE9D-1E7A-003FA30A02F4}"/>
              </a:ext>
            </a:extLst>
          </p:cNvPr>
          <p:cNvSpPr txBox="1"/>
          <p:nvPr/>
        </p:nvSpPr>
        <p:spPr>
          <a:xfrm>
            <a:off x="1168400" y="1981200"/>
            <a:ext cx="22352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Deteksi lebih cepat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969EA-96ED-218F-2942-79E49111DAC8}"/>
              </a:ext>
            </a:extLst>
          </p:cNvPr>
          <p:cNvSpPr txBox="1"/>
          <p:nvPr/>
        </p:nvSpPr>
        <p:spPr>
          <a:xfrm>
            <a:off x="1168400" y="2260600"/>
            <a:ext cx="22352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3F3122"/>
                </a:solidFill>
                <a:latin typeface="Aptos" panose="020B0004020202020204" pitchFamily="34" charset="0"/>
              </a:rPr>
              <a:t>Masalah operasional terlihat lebih dini sebelum membesar.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0E8CFE-0525-C446-62B9-B9D0898F8ED6}"/>
              </a:ext>
            </a:extLst>
          </p:cNvPr>
          <p:cNvSpPr/>
          <p:nvPr/>
        </p:nvSpPr>
        <p:spPr>
          <a:xfrm>
            <a:off x="1117600" y="4216400"/>
            <a:ext cx="2603500" cy="1219200"/>
          </a:xfrm>
          <a:prstGeom prst="roundRect">
            <a:avLst/>
          </a:prstGeom>
          <a:solidFill>
            <a:srgbClr val="E7F5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AC1DE-0319-F9E6-69DC-F24F22A89084}"/>
              </a:ext>
            </a:extLst>
          </p:cNvPr>
          <p:cNvSpPr txBox="1"/>
          <p:nvPr/>
        </p:nvSpPr>
        <p:spPr>
          <a:xfrm>
            <a:off x="1295400" y="4368800"/>
            <a:ext cx="22352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Data reward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B05448-A556-2D46-3D01-E00D4CF564A0}"/>
              </a:ext>
            </a:extLst>
          </p:cNvPr>
          <p:cNvSpPr txBox="1"/>
          <p:nvPr/>
        </p:nvSpPr>
        <p:spPr>
          <a:xfrm>
            <a:off x="1295400" y="4648200"/>
            <a:ext cx="22352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3F3122"/>
                </a:solidFill>
                <a:latin typeface="Aptos" panose="020B0004020202020204" pitchFamily="34" charset="0"/>
              </a:rPr>
              <a:t>Pelapor aktif dapat diberi apresiasi berbasis data nyata.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F68462-4D35-0B11-5C9B-1968028112DA}"/>
              </a:ext>
            </a:extLst>
          </p:cNvPr>
          <p:cNvSpPr/>
          <p:nvPr/>
        </p:nvSpPr>
        <p:spPr>
          <a:xfrm>
            <a:off x="8636000" y="1828800"/>
            <a:ext cx="2603500" cy="1219200"/>
          </a:xfrm>
          <a:prstGeom prst="roundRect">
            <a:avLst/>
          </a:prstGeom>
          <a:solidFill>
            <a:srgbClr val="FCF4EE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EFD9CF-DF09-B7AB-DB7E-69F5A038140D}"/>
              </a:ext>
            </a:extLst>
          </p:cNvPr>
          <p:cNvSpPr txBox="1"/>
          <p:nvPr/>
        </p:nvSpPr>
        <p:spPr>
          <a:xfrm>
            <a:off x="8813800" y="1981200"/>
            <a:ext cx="22352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Feedback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4A7BE-7EF4-1501-E8E4-F6EF4BB5D3E6}"/>
              </a:ext>
            </a:extLst>
          </p:cNvPr>
          <p:cNvSpPr txBox="1"/>
          <p:nvPr/>
        </p:nvSpPr>
        <p:spPr>
          <a:xfrm>
            <a:off x="8813800" y="2260600"/>
            <a:ext cx="22352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3F3122"/>
                </a:solidFill>
                <a:latin typeface="Aptos" panose="020B0004020202020204" pitchFamily="34" charset="0"/>
              </a:rPr>
              <a:t>Tim service punya input objektif untuk evaluasi dan perbaikan.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F075F66-1E37-B5A2-41EB-B2DF20F571F8}"/>
              </a:ext>
            </a:extLst>
          </p:cNvPr>
          <p:cNvSpPr/>
          <p:nvPr/>
        </p:nvSpPr>
        <p:spPr>
          <a:xfrm>
            <a:off x="8585200" y="4216400"/>
            <a:ext cx="2603500" cy="1219200"/>
          </a:xfrm>
          <a:prstGeom prst="roundRect">
            <a:avLst/>
          </a:prstGeom>
          <a:solidFill>
            <a:srgbClr val="F9EEF6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D1474-F15D-9EBC-1808-63E705F8F0B7}"/>
              </a:ext>
            </a:extLst>
          </p:cNvPr>
          <p:cNvSpPr txBox="1"/>
          <p:nvPr/>
        </p:nvSpPr>
        <p:spPr>
          <a:xfrm>
            <a:off x="8763000" y="4368800"/>
            <a:ext cx="22352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Budaya ownership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48A838-2622-4210-0C90-E2C66B298593}"/>
              </a:ext>
            </a:extLst>
          </p:cNvPr>
          <p:cNvSpPr txBox="1"/>
          <p:nvPr/>
        </p:nvSpPr>
        <p:spPr>
          <a:xfrm>
            <a:off x="8763000" y="4648200"/>
            <a:ext cx="22352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i-FI" sz="1100">
                <a:solidFill>
                  <a:srgbClr val="3F3122"/>
                </a:solidFill>
                <a:latin typeface="Aptos" panose="020B0004020202020204" pitchFamily="34" charset="0"/>
              </a:rPr>
              <a:t>User merasa ikut memiliki kualitas lingkungan kerja.</a:t>
            </a:r>
            <a:endParaRPr lang="en-ID" sz="1100">
              <a:solidFill>
                <a:srgbClr val="3F3122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DC8C46-5BE0-84E7-FD2B-205F538CFB74}"/>
              </a:ext>
            </a:extLst>
          </p:cNvPr>
          <p:cNvCxnSpPr/>
          <p:nvPr/>
        </p:nvCxnSpPr>
        <p:spPr>
          <a:xfrm>
            <a:off x="3594100" y="2463800"/>
            <a:ext cx="241300" cy="330200"/>
          </a:xfrm>
          <a:prstGeom prst="line">
            <a:avLst/>
          </a:prstGeom>
          <a:ln>
            <a:solidFill>
              <a:srgbClr val="897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53CEED-8B51-7BD7-A017-939BBB08222F}"/>
              </a:ext>
            </a:extLst>
          </p:cNvPr>
          <p:cNvCxnSpPr/>
          <p:nvPr/>
        </p:nvCxnSpPr>
        <p:spPr>
          <a:xfrm flipV="1">
            <a:off x="3594100" y="3200400"/>
            <a:ext cx="241300" cy="1625600"/>
          </a:xfrm>
          <a:prstGeom prst="line">
            <a:avLst/>
          </a:prstGeom>
          <a:ln>
            <a:solidFill>
              <a:srgbClr val="897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69ECDF-539A-F68D-F13F-9A108781E64E}"/>
              </a:ext>
            </a:extLst>
          </p:cNvPr>
          <p:cNvCxnSpPr/>
          <p:nvPr/>
        </p:nvCxnSpPr>
        <p:spPr>
          <a:xfrm flipV="1">
            <a:off x="8280400" y="2463800"/>
            <a:ext cx="355600" cy="330200"/>
          </a:xfrm>
          <a:prstGeom prst="line">
            <a:avLst/>
          </a:prstGeom>
          <a:ln>
            <a:solidFill>
              <a:srgbClr val="897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DF8329-C45E-5389-5E1E-C011A7C3A550}"/>
              </a:ext>
            </a:extLst>
          </p:cNvPr>
          <p:cNvCxnSpPr/>
          <p:nvPr/>
        </p:nvCxnSpPr>
        <p:spPr>
          <a:xfrm>
            <a:off x="8280400" y="3200400"/>
            <a:ext cx="355600" cy="1625600"/>
          </a:xfrm>
          <a:prstGeom prst="line">
            <a:avLst/>
          </a:prstGeom>
          <a:ln>
            <a:solidFill>
              <a:srgbClr val="897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43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6FA675-5EAA-770B-39D7-C4402A7114BB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8F0E9-9B75-5F76-A69B-CF2244F9B597}"/>
              </a:ext>
            </a:extLst>
          </p:cNvPr>
          <p:cNvSpPr/>
          <p:nvPr/>
        </p:nvSpPr>
        <p:spPr>
          <a:xfrm>
            <a:off x="0" y="1168400"/>
            <a:ext cx="3302000" cy="76200"/>
          </a:xfrm>
          <a:prstGeom prst="rect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B3535-EC77-4F9A-62CC-5709E2C69894}"/>
              </a:ext>
            </a:extLst>
          </p:cNvPr>
          <p:cNvSpPr txBox="1"/>
          <p:nvPr/>
        </p:nvSpPr>
        <p:spPr>
          <a:xfrm>
            <a:off x="533400" y="228600"/>
            <a:ext cx="812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600" b="1">
                <a:solidFill>
                  <a:srgbClr val="FFFFFF"/>
                </a:solidFill>
                <a:latin typeface="Aptos Display" panose="020B0004020202020204" pitchFamily="34" charset="0"/>
              </a:rPr>
              <a:t>Tahapan PDCA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C4240-8322-7BDC-5112-8133E88D96A6}"/>
              </a:ext>
            </a:extLst>
          </p:cNvPr>
          <p:cNvSpPr txBox="1"/>
          <p:nvPr/>
        </p:nvSpPr>
        <p:spPr>
          <a:xfrm>
            <a:off x="558800" y="635000"/>
            <a:ext cx="889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F5E7D9"/>
                </a:solidFill>
                <a:latin typeface="Aptos" panose="020B0004020202020204" pitchFamily="34" charset="0"/>
              </a:rPr>
              <a:t>Kerangka improvement berkelanjutan setelah aplikasi dijalankan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FE8149-C6DE-9E1A-D2F8-6F047119D5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77800"/>
            <a:ext cx="1498600" cy="14986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C3C813B-9680-43B7-B28B-F99BEF95A523}"/>
              </a:ext>
            </a:extLst>
          </p:cNvPr>
          <p:cNvSpPr/>
          <p:nvPr/>
        </p:nvSpPr>
        <p:spPr>
          <a:xfrm>
            <a:off x="4724400" y="1549400"/>
            <a:ext cx="1524000" cy="990600"/>
          </a:xfrm>
          <a:prstGeom prst="ellipse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D0CC3E-1371-F0E0-E368-922C4C50D0C9}"/>
              </a:ext>
            </a:extLst>
          </p:cNvPr>
          <p:cNvSpPr/>
          <p:nvPr/>
        </p:nvSpPr>
        <p:spPr>
          <a:xfrm>
            <a:off x="7569200" y="2743200"/>
            <a:ext cx="1524000" cy="990600"/>
          </a:xfrm>
          <a:prstGeom prst="ellipse">
            <a:avLst/>
          </a:prstGeom>
          <a:solidFill>
            <a:srgbClr val="A56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2A777A-44FA-2142-7EE7-9E7BA24FB525}"/>
              </a:ext>
            </a:extLst>
          </p:cNvPr>
          <p:cNvSpPr/>
          <p:nvPr/>
        </p:nvSpPr>
        <p:spPr>
          <a:xfrm>
            <a:off x="4724400" y="4445000"/>
            <a:ext cx="1524000" cy="990600"/>
          </a:xfrm>
          <a:prstGeom prst="ellipse">
            <a:avLst/>
          </a:prstGeom>
          <a:solidFill>
            <a:srgbClr val="41A4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D8F3BDB-ED77-6D97-3983-5239E0FA0FF3}"/>
              </a:ext>
            </a:extLst>
          </p:cNvPr>
          <p:cNvSpPr/>
          <p:nvPr/>
        </p:nvSpPr>
        <p:spPr>
          <a:xfrm>
            <a:off x="1905000" y="2743200"/>
            <a:ext cx="1524000" cy="990600"/>
          </a:xfrm>
          <a:prstGeom prst="ellipse">
            <a:avLst/>
          </a:prstGeom>
          <a:solidFill>
            <a:srgbClr val="6B57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1CD064-18DB-2C80-7043-D2EED9F78394}"/>
              </a:ext>
            </a:extLst>
          </p:cNvPr>
          <p:cNvSpPr txBox="1"/>
          <p:nvPr/>
        </p:nvSpPr>
        <p:spPr>
          <a:xfrm>
            <a:off x="4978400" y="1841500"/>
            <a:ext cx="1041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 b="1">
                <a:solidFill>
                  <a:srgbClr val="FFFFFF"/>
                </a:solidFill>
                <a:latin typeface="Aptos Display" panose="020B0004020202020204" pitchFamily="34" charset="0"/>
              </a:rPr>
              <a:t>PLAN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F3E7D-0664-9D78-09B5-AA06F40119E5}"/>
              </a:ext>
            </a:extLst>
          </p:cNvPr>
          <p:cNvSpPr txBox="1"/>
          <p:nvPr/>
        </p:nvSpPr>
        <p:spPr>
          <a:xfrm>
            <a:off x="4953000" y="2120900"/>
            <a:ext cx="13335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FFFFFF"/>
                </a:solidFill>
                <a:latin typeface="Aptos" panose="020B0004020202020204" pitchFamily="34" charset="0"/>
              </a:rPr>
              <a:t>Tetapkan target respon, alur tiket, SLA, dan PIC.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8E2C1-9145-D0B9-808B-3EB9807206D8}"/>
              </a:ext>
            </a:extLst>
          </p:cNvPr>
          <p:cNvSpPr txBox="1"/>
          <p:nvPr/>
        </p:nvSpPr>
        <p:spPr>
          <a:xfrm>
            <a:off x="7823200" y="3035300"/>
            <a:ext cx="1041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 b="1">
                <a:solidFill>
                  <a:srgbClr val="FFFFFF"/>
                </a:solidFill>
                <a:latin typeface="Aptos Display" panose="020B0004020202020204" pitchFamily="34" charset="0"/>
              </a:rPr>
              <a:t>DO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F3EC32-EC79-082A-5839-4E5C0EE6AC33}"/>
              </a:ext>
            </a:extLst>
          </p:cNvPr>
          <p:cNvSpPr txBox="1"/>
          <p:nvPr/>
        </p:nvSpPr>
        <p:spPr>
          <a:xfrm>
            <a:off x="7797800" y="3314700"/>
            <a:ext cx="1333500" cy="86177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FFFFFF"/>
                </a:solidFill>
                <a:latin typeface="Aptos" panose="020B0004020202020204" pitchFamily="34" charset="0"/>
              </a:rPr>
              <a:t>Jalankan aplikasi, biasakan user melapor, dan operasionalkan dashboard.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7128D-28F3-C8BE-8ED8-6ED74370D920}"/>
              </a:ext>
            </a:extLst>
          </p:cNvPr>
          <p:cNvSpPr txBox="1"/>
          <p:nvPr/>
        </p:nvSpPr>
        <p:spPr>
          <a:xfrm>
            <a:off x="4978400" y="4737100"/>
            <a:ext cx="1041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 b="1">
                <a:solidFill>
                  <a:srgbClr val="FFFFFF"/>
                </a:solidFill>
                <a:latin typeface="Aptos Display" panose="020B0004020202020204" pitchFamily="34" charset="0"/>
              </a:rPr>
              <a:t>CHECK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68B458-6DAE-12F1-0875-B24DC925B36E}"/>
              </a:ext>
            </a:extLst>
          </p:cNvPr>
          <p:cNvSpPr txBox="1"/>
          <p:nvPr/>
        </p:nvSpPr>
        <p:spPr>
          <a:xfrm>
            <a:off x="4953000" y="5016500"/>
            <a:ext cx="1333500" cy="86177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Pantau open, progress, closed, overdue, top pelapor, dan feedback.</a:t>
            </a:r>
            <a:endParaRPr lang="en-ID" sz="1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E0F91C-6219-08FF-8212-9A8CCF2A4EB3}"/>
              </a:ext>
            </a:extLst>
          </p:cNvPr>
          <p:cNvSpPr txBox="1"/>
          <p:nvPr/>
        </p:nvSpPr>
        <p:spPr>
          <a:xfrm>
            <a:off x="2159000" y="3035300"/>
            <a:ext cx="1041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 b="1">
                <a:solidFill>
                  <a:srgbClr val="FFFFFF"/>
                </a:solidFill>
                <a:latin typeface="Aptos Display" panose="020B0004020202020204" pitchFamily="34" charset="0"/>
              </a:rPr>
              <a:t>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3784C4-337B-D411-DFBD-C8413245C829}"/>
              </a:ext>
            </a:extLst>
          </p:cNvPr>
          <p:cNvSpPr txBox="1"/>
          <p:nvPr/>
        </p:nvSpPr>
        <p:spPr>
          <a:xfrm>
            <a:off x="2133600" y="3314700"/>
            <a:ext cx="13335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000">
                <a:solidFill>
                  <a:srgbClr val="FFFFFF"/>
                </a:solidFill>
                <a:latin typeface="Aptos" panose="020B0004020202020204" pitchFamily="34" charset="0"/>
              </a:rPr>
              <a:t>Perbaiki proses, beri reward, dan tingkatkan standar layanan.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AD6963-7956-B2AF-9DC4-A7AB05DCC253}"/>
              </a:ext>
            </a:extLst>
          </p:cNvPr>
          <p:cNvSpPr/>
          <p:nvPr/>
        </p:nvSpPr>
        <p:spPr>
          <a:xfrm>
            <a:off x="5143500" y="2832100"/>
            <a:ext cx="1841500" cy="1206500"/>
          </a:xfrm>
          <a:prstGeom prst="ellipse">
            <a:avLst/>
          </a:prstGeom>
          <a:solidFill>
            <a:srgbClr val="FBF7F4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29B3A4-1096-267E-40AF-B87B4A4D3B20}"/>
              </a:ext>
            </a:extLst>
          </p:cNvPr>
          <p:cNvSpPr txBox="1"/>
          <p:nvPr/>
        </p:nvSpPr>
        <p:spPr>
          <a:xfrm>
            <a:off x="5461000" y="3124200"/>
            <a:ext cx="12446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600" b="1">
                <a:solidFill>
                  <a:srgbClr val="5D3617"/>
                </a:solidFill>
                <a:latin typeface="Aptos Display" panose="020B0004020202020204" pitchFamily="34" charset="0"/>
              </a:rPr>
              <a:t>Continuous
Improvement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D876CA-D641-91EF-2991-8248CB916B1A}"/>
              </a:ext>
            </a:extLst>
          </p:cNvPr>
          <p:cNvCxnSpPr/>
          <p:nvPr/>
        </p:nvCxnSpPr>
        <p:spPr>
          <a:xfrm>
            <a:off x="6223000" y="2286000"/>
            <a:ext cx="1651000" cy="736600"/>
          </a:xfrm>
          <a:prstGeom prst="line">
            <a:avLst/>
          </a:prstGeom>
          <a:ln w="25400">
            <a:solidFill>
              <a:srgbClr val="897A6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DA1A36-985D-A67C-D7AC-333B067CEAFC}"/>
              </a:ext>
            </a:extLst>
          </p:cNvPr>
          <p:cNvCxnSpPr/>
          <p:nvPr/>
        </p:nvCxnSpPr>
        <p:spPr>
          <a:xfrm flipH="1">
            <a:off x="6248400" y="3733800"/>
            <a:ext cx="2070100" cy="1219200"/>
          </a:xfrm>
          <a:prstGeom prst="line">
            <a:avLst/>
          </a:prstGeom>
          <a:ln w="25400">
            <a:solidFill>
              <a:srgbClr val="897A6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D57C36-D7B5-58D6-8BEB-8968F321FFA6}"/>
              </a:ext>
            </a:extLst>
          </p:cNvPr>
          <p:cNvCxnSpPr/>
          <p:nvPr/>
        </p:nvCxnSpPr>
        <p:spPr>
          <a:xfrm flipH="1" flipV="1">
            <a:off x="3111500" y="3733800"/>
            <a:ext cx="1612900" cy="1219200"/>
          </a:xfrm>
          <a:prstGeom prst="line">
            <a:avLst/>
          </a:prstGeom>
          <a:ln w="25400">
            <a:solidFill>
              <a:srgbClr val="897A6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2A230E-6B64-C73F-E878-225762B2DB68}"/>
              </a:ext>
            </a:extLst>
          </p:cNvPr>
          <p:cNvCxnSpPr/>
          <p:nvPr/>
        </p:nvCxnSpPr>
        <p:spPr>
          <a:xfrm flipV="1">
            <a:off x="3022600" y="2286000"/>
            <a:ext cx="1701800" cy="457200"/>
          </a:xfrm>
          <a:prstGeom prst="line">
            <a:avLst/>
          </a:prstGeom>
          <a:ln w="25400">
            <a:solidFill>
              <a:srgbClr val="897A6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44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47400A-908E-BB76-03CB-53832F360CA5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5D3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09FC0-45B1-D1CC-3144-62134AB71F74}"/>
              </a:ext>
            </a:extLst>
          </p:cNvPr>
          <p:cNvSpPr/>
          <p:nvPr/>
        </p:nvSpPr>
        <p:spPr>
          <a:xfrm>
            <a:off x="0" y="1168400"/>
            <a:ext cx="3302000" cy="76200"/>
          </a:xfrm>
          <a:prstGeom prst="rect">
            <a:avLst/>
          </a:prstGeom>
          <a:solidFill>
            <a:srgbClr val="7C8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9EBBA-F8C9-816D-8CFE-28E9F707D197}"/>
              </a:ext>
            </a:extLst>
          </p:cNvPr>
          <p:cNvSpPr txBox="1"/>
          <p:nvPr/>
        </p:nvSpPr>
        <p:spPr>
          <a:xfrm>
            <a:off x="533400" y="228600"/>
            <a:ext cx="812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600" b="1">
                <a:solidFill>
                  <a:srgbClr val="FFFFFF"/>
                </a:solidFill>
                <a:latin typeface="Aptos Display" panose="020B0004020202020204" pitchFamily="34" charset="0"/>
              </a:rPr>
              <a:t>Perhitungan Dampak untuk 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AEF2A-991B-20DC-13C0-684DDFAD43C1}"/>
              </a:ext>
            </a:extLst>
          </p:cNvPr>
          <p:cNvSpPr txBox="1"/>
          <p:nvPr/>
        </p:nvSpPr>
        <p:spPr>
          <a:xfrm>
            <a:off x="558800" y="635000"/>
            <a:ext cx="889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F5E7D9"/>
                </a:solidFill>
                <a:latin typeface="Aptos" panose="020B0004020202020204" pitchFamily="34" charset="0"/>
              </a:rPr>
              <a:t>Simulasi sederhana jika sistem berjalan lancar dan disiplin dipakai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25C070-45F9-D65D-8242-275B31A1D3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177800"/>
            <a:ext cx="1498600" cy="14986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5E5838-CACA-B9BE-7818-FEE25714FE55}"/>
              </a:ext>
            </a:extLst>
          </p:cNvPr>
          <p:cNvSpPr/>
          <p:nvPr/>
        </p:nvSpPr>
        <p:spPr>
          <a:xfrm>
            <a:off x="660400" y="1905000"/>
            <a:ext cx="2413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6DF044-F556-D778-2FED-31AA1CB80F59}"/>
              </a:ext>
            </a:extLst>
          </p:cNvPr>
          <p:cNvSpPr txBox="1"/>
          <p:nvPr/>
        </p:nvSpPr>
        <p:spPr>
          <a:xfrm>
            <a:off x="889000" y="2235200"/>
            <a:ext cx="190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800" b="1">
                <a:solidFill>
                  <a:srgbClr val="7C8C1C"/>
                </a:solidFill>
                <a:latin typeface="Aptos Display" panose="020B0004020202020204" pitchFamily="34" charset="0"/>
              </a:rPr>
              <a:t>115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01F93-3967-FEB1-C1FF-76088DD2E4D7}"/>
              </a:ext>
            </a:extLst>
          </p:cNvPr>
          <p:cNvSpPr txBox="1"/>
          <p:nvPr/>
        </p:nvSpPr>
        <p:spPr>
          <a:xfrm>
            <a:off x="889000" y="27940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Volume laporan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9DF8D-016C-A891-BEF1-681EA8DB8E7C}"/>
              </a:ext>
            </a:extLst>
          </p:cNvPr>
          <p:cNvSpPr txBox="1"/>
          <p:nvPr/>
        </p:nvSpPr>
        <p:spPr>
          <a:xfrm>
            <a:off x="889000" y="3200400"/>
            <a:ext cx="1955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100">
                <a:solidFill>
                  <a:srgbClr val="3F3122"/>
                </a:solidFill>
                <a:latin typeface="Aptos" panose="020B0004020202020204" pitchFamily="34" charset="0"/>
              </a:rPr>
              <a:t>Laporan aktual yang menjadi dasar simulasi.</a:t>
            </a:r>
            <a:endParaRPr lang="en-ID" sz="1100">
              <a:solidFill>
                <a:srgbClr val="3F312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8BB3CD-C8B4-07CE-9F71-A0FC7E34FEC6}"/>
              </a:ext>
            </a:extLst>
          </p:cNvPr>
          <p:cNvSpPr/>
          <p:nvPr/>
        </p:nvSpPr>
        <p:spPr>
          <a:xfrm>
            <a:off x="3454400" y="1905000"/>
            <a:ext cx="2413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0F34E-CD81-C2CE-FBCD-CF34060946AD}"/>
              </a:ext>
            </a:extLst>
          </p:cNvPr>
          <p:cNvSpPr txBox="1"/>
          <p:nvPr/>
        </p:nvSpPr>
        <p:spPr>
          <a:xfrm>
            <a:off x="3683000" y="2235200"/>
            <a:ext cx="190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800" b="1">
                <a:solidFill>
                  <a:srgbClr val="7C8C1C"/>
                </a:solidFill>
                <a:latin typeface="Aptos Display" panose="020B0004020202020204" pitchFamily="34" charset="0"/>
              </a:rPr>
              <a:t>17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1DF53-95A7-6173-0339-7CEF0AAB9192}"/>
              </a:ext>
            </a:extLst>
          </p:cNvPr>
          <p:cNvSpPr txBox="1"/>
          <p:nvPr/>
        </p:nvSpPr>
        <p:spPr>
          <a:xfrm>
            <a:off x="3683000" y="2794000"/>
            <a:ext cx="19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Laporan terselamatkan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322BE-4131-1110-06CE-5332829DFEFA}"/>
              </a:ext>
            </a:extLst>
          </p:cNvPr>
          <p:cNvSpPr txBox="1"/>
          <p:nvPr/>
        </p:nvSpPr>
        <p:spPr>
          <a:xfrm>
            <a:off x="3683000" y="3200400"/>
            <a:ext cx="1955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sv-SE" sz="1100">
                <a:solidFill>
                  <a:srgbClr val="3F3122"/>
                </a:solidFill>
                <a:latin typeface="Aptos" panose="020B0004020202020204" pitchFamily="34" charset="0"/>
              </a:rPr>
              <a:t>Jika lost report turun dari 20% menjadi 5%.</a:t>
            </a:r>
            <a:endParaRPr lang="en-ID" sz="1100">
              <a:solidFill>
                <a:srgbClr val="3F3122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96024C-0B44-A503-4EC8-0E48EF0AC182}"/>
              </a:ext>
            </a:extLst>
          </p:cNvPr>
          <p:cNvSpPr/>
          <p:nvPr/>
        </p:nvSpPr>
        <p:spPr>
          <a:xfrm>
            <a:off x="6248400" y="1905000"/>
            <a:ext cx="2413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87AE8-64B8-529F-C8D0-1CC361258B1E}"/>
              </a:ext>
            </a:extLst>
          </p:cNvPr>
          <p:cNvSpPr txBox="1"/>
          <p:nvPr/>
        </p:nvSpPr>
        <p:spPr>
          <a:xfrm>
            <a:off x="6477000" y="2235200"/>
            <a:ext cx="190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800" b="1">
                <a:solidFill>
                  <a:srgbClr val="7C8C1C"/>
                </a:solidFill>
                <a:latin typeface="Aptos Display" panose="020B0004020202020204" pitchFamily="34" charset="0"/>
              </a:rPr>
              <a:t>100%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C74FAD-BAA4-90DA-F98F-40C3AF1637A5}"/>
              </a:ext>
            </a:extLst>
          </p:cNvPr>
          <p:cNvSpPr txBox="1"/>
          <p:nvPr/>
        </p:nvSpPr>
        <p:spPr>
          <a:xfrm>
            <a:off x="6477000" y="27940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Monitoring owner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FE6FB9-0CFA-3A30-9888-148D52F74DB6}"/>
              </a:ext>
            </a:extLst>
          </p:cNvPr>
          <p:cNvSpPr txBox="1"/>
          <p:nvPr/>
        </p:nvSpPr>
        <p:spPr>
          <a:xfrm>
            <a:off x="6477000" y="3200400"/>
            <a:ext cx="1955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3F3122"/>
                </a:solidFill>
                <a:latin typeface="Aptos" panose="020B0004020202020204" pitchFamily="34" charset="0"/>
              </a:rPr>
              <a:t>Semua tiket terlihat dalam satu dashboard.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0E1DCE-6817-0189-2B21-2F10FB585DD1}"/>
              </a:ext>
            </a:extLst>
          </p:cNvPr>
          <p:cNvSpPr/>
          <p:nvPr/>
        </p:nvSpPr>
        <p:spPr>
          <a:xfrm>
            <a:off x="9042400" y="1905000"/>
            <a:ext cx="2413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EFE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E6204E-CF54-07A1-FB68-6BB7412DE8A6}"/>
              </a:ext>
            </a:extLst>
          </p:cNvPr>
          <p:cNvSpPr txBox="1"/>
          <p:nvPr/>
        </p:nvSpPr>
        <p:spPr>
          <a:xfrm>
            <a:off x="9271000" y="2235200"/>
            <a:ext cx="190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2800" b="1">
                <a:solidFill>
                  <a:srgbClr val="7C8C1C"/>
                </a:solidFill>
                <a:latin typeface="Aptos Display" panose="020B0004020202020204" pitchFamily="34" charset="0"/>
              </a:rPr>
              <a:t>+30%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482A1E-8883-1DD3-6F19-4954FCDF4362}"/>
              </a:ext>
            </a:extLst>
          </p:cNvPr>
          <p:cNvSpPr txBox="1"/>
          <p:nvPr/>
        </p:nvSpPr>
        <p:spPr>
          <a:xfrm>
            <a:off x="9271000" y="2794000"/>
            <a:ext cx="190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500" b="1">
                <a:solidFill>
                  <a:srgbClr val="5D3617"/>
                </a:solidFill>
                <a:latin typeface="Aptos Display" panose="020B0004020202020204" pitchFamily="34" charset="0"/>
              </a:rPr>
              <a:t>Potensi respon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792C2-B33D-EC1F-89F2-DD3BC9499423}"/>
              </a:ext>
            </a:extLst>
          </p:cNvPr>
          <p:cNvSpPr txBox="1"/>
          <p:nvPr/>
        </p:nvSpPr>
        <p:spPr>
          <a:xfrm>
            <a:off x="9271000" y="3200400"/>
            <a:ext cx="1955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100">
                <a:solidFill>
                  <a:srgbClr val="3F3122"/>
                </a:solidFill>
                <a:latin typeface="Aptos" panose="020B0004020202020204" pitchFamily="34" charset="0"/>
              </a:rPr>
              <a:t>Karena status dan prioritas lebih mudah dipantau.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5078C7-3BD4-9D7D-2C43-C336921AC57A}"/>
              </a:ext>
            </a:extLst>
          </p:cNvPr>
          <p:cNvSpPr/>
          <p:nvPr/>
        </p:nvSpPr>
        <p:spPr>
          <a:xfrm>
            <a:off x="1092200" y="4381500"/>
            <a:ext cx="10033000" cy="1219200"/>
          </a:xfrm>
          <a:prstGeom prst="roundRect">
            <a:avLst/>
          </a:prstGeom>
          <a:solidFill>
            <a:srgbClr val="5D3617"/>
          </a:solidFill>
          <a:ln>
            <a:solidFill>
              <a:srgbClr val="5D36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527303-8B8F-3A5D-96A6-97E87FFA4D92}"/>
              </a:ext>
            </a:extLst>
          </p:cNvPr>
          <p:cNvSpPr txBox="1"/>
          <p:nvPr/>
        </p:nvSpPr>
        <p:spPr>
          <a:xfrm>
            <a:off x="1473200" y="4699000"/>
            <a:ext cx="9271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>
                <a:solidFill>
                  <a:srgbClr val="FFFFFF"/>
                </a:solidFill>
                <a:latin typeface="Aptos" panose="020B0004020202020204" pitchFamily="34" charset="0"/>
              </a:rPr>
              <a:t>Jika aplikasi dijalankan konsisten, GA akan terlihat lebih responsif, lebih tertib, dan lebih dipercaya karena ada bukti kerja yang terukur untuk monitoring, evaluasi, dan service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40651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12C2DD-8E57-1F24-63DF-ADF53B7108D0}"/>
              </a:ext>
            </a:extLst>
          </p:cNvPr>
          <p:cNvSpPr/>
          <p:nvPr/>
        </p:nvSpPr>
        <p:spPr>
          <a:xfrm>
            <a:off x="762000" y="1270000"/>
            <a:ext cx="2159000" cy="88900"/>
          </a:xfrm>
          <a:prstGeom prst="rect">
            <a:avLst/>
          </a:prstGeom>
          <a:solidFill>
            <a:srgbClr val="41A4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737BB-18FC-4167-FB76-17BDCDD77085}"/>
              </a:ext>
            </a:extLst>
          </p:cNvPr>
          <p:cNvSpPr txBox="1"/>
          <p:nvPr/>
        </p:nvSpPr>
        <p:spPr>
          <a:xfrm>
            <a:off x="762000" y="1676400"/>
            <a:ext cx="825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3000" b="1">
                <a:solidFill>
                  <a:srgbClr val="FFFFFF"/>
                </a:solidFill>
                <a:latin typeface="Aptos Display" panose="020B0004020202020204" pitchFamily="34" charset="0"/>
              </a:rPr>
              <a:t>Kesimpulan untuk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D7E5F-F870-F0A1-DFA5-04B1CAA62802}"/>
              </a:ext>
            </a:extLst>
          </p:cNvPr>
          <p:cNvSpPr txBox="1"/>
          <p:nvPr/>
        </p:nvSpPr>
        <p:spPr>
          <a:xfrm>
            <a:off x="787400" y="2768600"/>
            <a:ext cx="7620000" cy="24314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900">
                <a:solidFill>
                  <a:srgbClr val="FBF2EA"/>
                </a:solidFill>
                <a:latin typeface="Aptos" panose="020B0004020202020204" pitchFamily="34" charset="0"/>
              </a:rPr>
              <a:t>â€¢ Aplikasi ini menutup celah lost report dan no monitoring.</a:t>
            </a:r>
          </a:p>
          <a:p>
            <a:r>
              <a:rPr lang="en-ID" sz="1900">
                <a:solidFill>
                  <a:srgbClr val="FBF2EA"/>
                </a:solidFill>
                <a:latin typeface="Aptos" panose="020B0004020202020204" pitchFamily="34" charset="0"/>
              </a:rPr>
              <a:t>â€¢ Tahap 1 membuat user mudah melapor dengan tiket yang jelas.</a:t>
            </a:r>
          </a:p>
          <a:p>
            <a:r>
              <a:rPr lang="en-ID" sz="1900">
                <a:solidFill>
                  <a:srgbClr val="FBF2EA"/>
                </a:solidFill>
                <a:latin typeface="Aptos" panose="020B0004020202020204" pitchFamily="34" charset="0"/>
              </a:rPr>
              <a:t>â€¢ Tahap 2 memberi kontrol penuh untuk sub user operasional dan owner.</a:t>
            </a:r>
          </a:p>
          <a:p>
            <a:r>
              <a:rPr lang="en-ID" sz="1900">
                <a:solidFill>
                  <a:srgbClr val="FBF2EA"/>
                </a:solidFill>
                <a:latin typeface="Aptos" panose="020B0004020202020204" pitchFamily="34" charset="0"/>
              </a:rPr>
              <a:t>â€¢ Fishbone menunjukkan akar masalah utama ada pada process, control, dan data.</a:t>
            </a:r>
          </a:p>
          <a:p>
            <a:r>
              <a:rPr lang="en-ID" sz="1900">
                <a:solidFill>
                  <a:srgbClr val="FBF2EA"/>
                </a:solidFill>
                <a:latin typeface="Aptos" panose="020B0004020202020204" pitchFamily="34" charset="0"/>
              </a:rPr>
              <a:t>â€¢ Dengan PDCA, aplikasi ini dapat menjadi fondasi continuous improvement layanan GA.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7F695-9CA1-B3F4-142C-9718D9E9B16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0" y="1524000"/>
            <a:ext cx="1841500" cy="1841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44D993-76A0-F938-6B13-93D72EB39E24}"/>
              </a:ext>
            </a:extLst>
          </p:cNvPr>
          <p:cNvSpPr/>
          <p:nvPr/>
        </p:nvSpPr>
        <p:spPr>
          <a:xfrm>
            <a:off x="8128000" y="4064000"/>
            <a:ext cx="3048000" cy="1092200"/>
          </a:xfrm>
          <a:prstGeom prst="roundRect">
            <a:avLst/>
          </a:prstGeom>
          <a:solidFill>
            <a:srgbClr val="754A22"/>
          </a:solidFill>
          <a:ln>
            <a:solidFill>
              <a:srgbClr val="754A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BCF5F-1E54-EB50-B6AA-E9D0EBFBA476}"/>
              </a:ext>
            </a:extLst>
          </p:cNvPr>
          <p:cNvSpPr txBox="1"/>
          <p:nvPr/>
        </p:nvSpPr>
        <p:spPr>
          <a:xfrm>
            <a:off x="8407400" y="4368800"/>
            <a:ext cx="24892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D" sz="1800" b="1">
                <a:solidFill>
                  <a:srgbClr val="7AD7FF"/>
                </a:solidFill>
                <a:latin typeface="Aptos Display" panose="020B0004020202020204" pitchFamily="34" charset="0"/>
              </a:rPr>
              <a:t>Service lebih cepat.
Data lebih kuat.</a:t>
            </a:r>
          </a:p>
        </p:txBody>
      </p:sp>
    </p:spTree>
    <p:extLst>
      <p:ext uri="{BB962C8B-B14F-4D97-AF65-F5344CB8AC3E}">
        <p14:creationId xmlns:p14="http://schemas.microsoft.com/office/powerpoint/2010/main" val="3303535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Microsoft Office PowerPoint</Application>
  <PresentationFormat>On-screen Show (16:10)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Adha Saputra</dc:creator>
  <cp:lastModifiedBy>Eddy Adha Saputra</cp:lastModifiedBy>
  <cp:revision>1</cp:revision>
  <dcterms:created xsi:type="dcterms:W3CDTF">2026-04-15T19:54:45Z</dcterms:created>
  <dcterms:modified xsi:type="dcterms:W3CDTF">2026-04-15T19:54:45Z</dcterms:modified>
</cp:coreProperties>
</file>